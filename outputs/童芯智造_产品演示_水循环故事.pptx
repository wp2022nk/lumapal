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0.png"/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1CC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266700"/>
            <a:ext cx="148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F47B20"/>
                </a:solidFill>
              </a:defRPr>
            </a:pPr>
            <a:r>
              <a:rPr sz="2250" b="1">
                <a:solidFill>
                  <a:srgbClr val="F47B20"/>
                </a:solidFill>
              </a:rPr>
              <a:t>童芯智造</a:t>
            </a:r>
            <a:endParaRPr sz="2250" b="1">
              <a:solidFill>
                <a:srgbClr val="F47B2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47675" y="6286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92719"/>
                </a:solidFill>
              </a:defRPr>
            </a:pPr>
            <a:r>
              <a:rPr sz="975" b="1">
                <a:solidFill>
                  <a:srgbClr val="392719"/>
                </a:solidFill>
              </a:rPr>
              <a:t>AI好奇心成长伙伴</a:t>
            </a:r>
            <a:endParaRPr sz="975" b="1">
              <a:solidFill>
                <a:srgbClr val="39271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305050" y="133350"/>
            <a:ext cx="95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F47B20"/>
                </a:solidFill>
              </a:defRPr>
            </a:pPr>
            <a:r>
              <a:rPr sz="3900" b="1">
                <a:solidFill>
                  <a:srgbClr val="F47B20"/>
                </a:solidFill>
              </a:rPr>
              <a:t>01</a:t>
            </a:r>
            <a:endParaRPr sz="3900" b="1">
              <a:solidFill>
                <a:srgbClr val="F47B2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276600" y="295275"/>
            <a:ext cx="6362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>
              <a:defRPr sz="2475" b="1">
                <a:solidFill>
                  <a:srgbClr val="392719"/>
                </a:solidFill>
              </a:defRPr>
            </a:pPr>
            <a:r>
              <a:rPr sz="2475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万物问答：孩子和AI聊水循环</a:t>
            </a:r>
            <a:endParaRPr sz="2475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295650" y="762000"/>
            <a:ext cx="676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7B5B3B"/>
                </a:solidFill>
              </a:defRPr>
            </a:pPr>
            <a:r>
              <a:rPr sz="1350">
                <a:solidFill>
                  <a:srgbClr val="7B5B3B"/>
                </a:solidFill>
              </a:rPr>
              <a:t>从生活现象出发，用多模态对话激发孩子的科学好奇心</a:t>
            </a:r>
            <a:endParaRPr sz="1350">
              <a:solidFill>
                <a:srgbClr val="7B5B3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867900" y="323850"/>
            <a:ext cx="1885950" cy="41910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 w="9525">
            <a:solidFill>
              <a:srgbClr val="F2C17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10096500" y="428625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47B20"/>
                </a:solidFill>
              </a:defRPr>
            </a:pPr>
            <a:r>
              <a:rPr sz="1275" b="1">
                <a:solidFill>
                  <a:srgbClr val="F47B20"/>
                </a:solidFill>
              </a:rPr>
              <a:t>白天探索时刻</a:t>
            </a:r>
            <a:endParaRPr sz="1275" b="1">
              <a:solidFill>
                <a:srgbClr val="F47B20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00050" y="1219200"/>
            <a:ext cx="6648450" cy="4362450"/>
          </a:xfrm>
          <a:prstGeom prst="roundRect">
            <a:avLst>
              <a:gd name="adj" fmla="val 6114"/>
            </a:avLst>
          </a:prstGeom>
          <a:solidFill>
            <a:srgbClr val="FFFDF7">
              <a:alpha val="94000"/>
            </a:srgbClr>
          </a:solidFill>
          <a:ln w="9525">
            <a:solidFill>
              <a:srgbClr val="F0CA8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13716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5F4124"/>
                </a:solidFill>
              </a:defRPr>
            </a:pPr>
            <a:r>
              <a:rPr lang="zh-CN" sz="1200" b="1">
                <a:solidFill>
                  <a:srgbClr val="5F4124"/>
                </a:solidFill>
                <a:ea typeface="宋体" panose="02010600030101010101" pitchFamily="2" charset="-122"/>
              </a:rPr>
              <a:t>会话一</a:t>
            </a:r>
            <a:r>
              <a:rPr sz="1200" b="1">
                <a:solidFill>
                  <a:srgbClr val="5F4124"/>
                </a:solidFill>
              </a:rPr>
              <a:t>· 小星的水循环探索</a:t>
            </a:r>
            <a:endParaRPr sz="1200" b="1">
              <a:solidFill>
                <a:srgbClr val="5F4124"/>
              </a:solidFill>
            </a:endParaRPr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8650" y="1733550"/>
            <a:ext cx="400050" cy="400050"/>
          </a:xfrm>
          <a:prstGeom prst="ellipse">
            <a:avLst/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1123950" y="171450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6E8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1257300" y="17907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C35B00"/>
                </a:solidFill>
              </a:defRPr>
            </a:pPr>
            <a:r>
              <a:rPr sz="1200" b="1">
                <a:solidFill>
                  <a:srgbClr val="C35B00"/>
                </a:solidFill>
              </a:rPr>
              <a:t>小星：</a:t>
            </a:r>
            <a:r>
              <a:rPr sz="1200" b="1">
                <a:solidFill>
                  <a:schemeClr val="tx1"/>
                </a:solidFill>
              </a:rPr>
              <a:t>好奇星伴，你看！妈妈的杯子在冒烟，是着火了吗？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57950" y="2247900"/>
            <a:ext cx="400050" cy="400050"/>
          </a:xfrm>
          <a:prstGeom prst="ellipse">
            <a:avLst/>
          </a:prstGeom>
        </p:spPr>
      </p:pic>
      <p:sp>
        <p:nvSpPr>
          <p:cNvPr id="15" name="圆角矩形 14"/>
          <p:cNvSpPr>
            <a:spLocks noGrp="1"/>
          </p:cNvSpPr>
          <p:nvPr/>
        </p:nvSpPr>
        <p:spPr>
          <a:xfrm>
            <a:off x="1600200" y="2228850"/>
            <a:ext cx="4762500" cy="438150"/>
          </a:xfrm>
          <a:prstGeom prst="roundRect">
            <a:avLst>
              <a:gd name="adj" fmla="val 34783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1733550" y="230505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不是着火哦，那是热水变出来的水蒸气宝宝。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8650" y="2762250"/>
            <a:ext cx="400050" cy="400050"/>
          </a:xfrm>
          <a:prstGeom prst="ellipse">
            <a:avLst/>
          </a:prstGeom>
        </p:spPr>
      </p:pic>
      <p:sp>
        <p:nvSpPr>
          <p:cNvPr id="18" name="圆角矩形 17"/>
          <p:cNvSpPr>
            <a:spLocks noGrp="1"/>
          </p:cNvSpPr>
          <p:nvPr/>
        </p:nvSpPr>
        <p:spPr>
          <a:xfrm>
            <a:off x="1123950" y="274320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6E8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1257300" y="28194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C35B00"/>
                </a:solidFill>
              </a:defRPr>
            </a:pPr>
            <a:r>
              <a:rPr sz="1200" b="1">
                <a:solidFill>
                  <a:srgbClr val="C35B00"/>
                </a:solidFill>
              </a:rPr>
              <a:t>小星：</a:t>
            </a:r>
            <a:r>
              <a:rPr sz="1200" b="1">
                <a:solidFill>
                  <a:schemeClr val="tx1"/>
                </a:solidFill>
              </a:rPr>
              <a:t>为什么我抓不住它？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57950" y="3276600"/>
            <a:ext cx="400050" cy="400050"/>
          </a:xfrm>
          <a:prstGeom prst="ellipse">
            <a:avLst/>
          </a:prstGeom>
        </p:spPr>
      </p:pic>
      <p:sp>
        <p:nvSpPr>
          <p:cNvPr id="21" name="圆角矩形 20"/>
          <p:cNvSpPr>
            <a:spLocks noGrp="1"/>
          </p:cNvSpPr>
          <p:nvPr/>
        </p:nvSpPr>
        <p:spPr>
          <a:xfrm>
            <a:off x="1600200" y="3257550"/>
            <a:ext cx="4762500" cy="438150"/>
          </a:xfrm>
          <a:prstGeom prst="roundRect">
            <a:avLst>
              <a:gd name="adj" fmla="val 34783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1733550" y="333375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它特别小，遇到凉空气会变成小水珠。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8650" y="3790950"/>
            <a:ext cx="400050" cy="400050"/>
          </a:xfrm>
          <a:prstGeom prst="ellipse">
            <a:avLst/>
          </a:prstGeom>
        </p:spPr>
      </p:pic>
      <p:sp>
        <p:nvSpPr>
          <p:cNvPr id="24" name="圆角矩形 23"/>
          <p:cNvSpPr>
            <a:spLocks noGrp="1"/>
          </p:cNvSpPr>
          <p:nvPr/>
        </p:nvSpPr>
        <p:spPr>
          <a:xfrm>
            <a:off x="1123950" y="377190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6E8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257300" y="38481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C35B00"/>
                </a:solidFill>
              </a:defRPr>
            </a:pPr>
            <a:r>
              <a:rPr sz="1200" b="1">
                <a:solidFill>
                  <a:srgbClr val="C35B00"/>
                </a:solidFill>
              </a:rPr>
              <a:t>小星：</a:t>
            </a:r>
            <a:r>
              <a:rPr sz="1200" b="1">
                <a:solidFill>
                  <a:schemeClr val="tx1"/>
                </a:solidFill>
              </a:rPr>
              <a:t>那外面的雨，也是这样变出来的吗？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8" name="图片 8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57950" y="4305300"/>
            <a:ext cx="400050" cy="400050"/>
          </a:xfrm>
          <a:prstGeom prst="ellipse">
            <a:avLst/>
          </a:prstGeom>
        </p:spPr>
      </p:pic>
      <p:sp>
        <p:nvSpPr>
          <p:cNvPr id="27" name="圆角矩形 26"/>
          <p:cNvSpPr>
            <a:spLocks noGrp="1"/>
          </p:cNvSpPr>
          <p:nvPr/>
        </p:nvSpPr>
        <p:spPr>
          <a:xfrm>
            <a:off x="1600200" y="4286250"/>
            <a:ext cx="4762500" cy="609600"/>
          </a:xfrm>
          <a:prstGeom prst="roundRect">
            <a:avLst>
              <a:gd name="adj" fmla="val 25000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1733550" y="4362450"/>
            <a:ext cx="449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对啦！太阳把水晒成水蒸气，飞到天上变成云，云装不下就变成雨。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8650" y="4991100"/>
            <a:ext cx="400050" cy="400050"/>
          </a:xfrm>
          <a:prstGeom prst="ellipse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1123950" y="497205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6E8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1" name="矩形 30"/>
          <p:cNvSpPr>
            <a:spLocks noGrp="1"/>
          </p:cNvSpPr>
          <p:nvPr/>
        </p:nvSpPr>
        <p:spPr>
          <a:xfrm>
            <a:off x="1257300" y="50482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C35B00"/>
                </a:solidFill>
              </a:defRPr>
            </a:pPr>
            <a:r>
              <a:rPr sz="1200" b="1">
                <a:solidFill>
                  <a:srgbClr val="C35B00"/>
                </a:solidFill>
              </a:rPr>
              <a:t>小星：</a:t>
            </a:r>
            <a:r>
              <a:rPr sz="1200" b="1">
                <a:solidFill>
                  <a:schemeClr val="tx1"/>
                </a:solidFill>
              </a:rPr>
              <a:t>所以云就是天上的大茶杯！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162800" y="1123950"/>
            <a:ext cx="4724400" cy="361950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F2C17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pic>
        <p:nvPicPr>
          <p:cNvPr id="95" name="图片 94"/>
          <p:cNvPicPr>
            <a:picLocks noChangeAspect="1"/>
          </p:cNvPicPr>
          <p:nvPr/>
        </p:nvPicPr>
        <p:blipFill>
          <a:blip r:embed="rId3"/>
          <a:srcRect l="12793" r="12793"/>
          <a:stretch>
            <a:fillRect/>
          </a:stretch>
        </p:blipFill>
        <p:spPr>
          <a:xfrm>
            <a:off x="7258050" y="1219200"/>
            <a:ext cx="4533900" cy="3429000"/>
          </a:xfrm>
          <a:prstGeom prst="roundRect">
            <a:avLst>
              <a:gd name="adj" fmla="val 6667"/>
            </a:avLst>
          </a:prstGeom>
        </p:spPr>
      </p:pic>
      <p:sp>
        <p:nvSpPr>
          <p:cNvPr id="34" name="圆角矩形 33"/>
          <p:cNvSpPr>
            <a:spLocks noGrp="1"/>
          </p:cNvSpPr>
          <p:nvPr/>
        </p:nvSpPr>
        <p:spPr>
          <a:xfrm>
            <a:off x="7258050" y="4876800"/>
            <a:ext cx="4533900" cy="704850"/>
          </a:xfrm>
          <a:prstGeom prst="roundRect">
            <a:avLst>
              <a:gd name="adj" fmla="val 29730"/>
            </a:avLst>
          </a:prstGeom>
          <a:solidFill>
            <a:srgbClr val="FFF7E8"/>
          </a:solidFill>
          <a:ln w="9525">
            <a:solidFill>
              <a:srgbClr val="F0CA8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5" name="矩形 34"/>
          <p:cNvSpPr>
            <a:spLocks noGrp="1"/>
          </p:cNvSpPr>
          <p:nvPr/>
        </p:nvSpPr>
        <p:spPr>
          <a:xfrm>
            <a:off x="7524750" y="50101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47B20"/>
                </a:solidFill>
              </a:defRPr>
            </a:pPr>
            <a:r>
              <a:rPr sz="1200" b="1">
                <a:solidFill>
                  <a:srgbClr val="F47B20"/>
                </a:solidFill>
              </a:rPr>
              <a:t>场景亮点</a:t>
            </a:r>
            <a:endParaRPr sz="1200" b="1">
              <a:solidFill>
                <a:srgbClr val="F47B2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420100" y="5000625"/>
            <a:ext cx="3105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白天从一杯热茶出发，AI把生活现象转成科学追问。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400050" y="5810250"/>
            <a:ext cx="11391900" cy="742950"/>
          </a:xfrm>
          <a:prstGeom prst="roundRect">
            <a:avLst>
              <a:gd name="adj" fmla="val 35897"/>
            </a:avLst>
          </a:prstGeom>
          <a:solidFill>
            <a:srgbClr val="FFF7E8"/>
          </a:solidFill>
          <a:ln w="9525">
            <a:solidFill>
              <a:srgbClr val="F0C3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8" name="圆角矩形 37"/>
          <p:cNvSpPr>
            <a:spLocks noGrp="1"/>
          </p:cNvSpPr>
          <p:nvPr/>
        </p:nvSpPr>
        <p:spPr>
          <a:xfrm>
            <a:off x="5905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1" name="矩形 40"/>
          <p:cNvSpPr>
            <a:spLocks noGrp="1"/>
          </p:cNvSpPr>
          <p:nvPr/>
        </p:nvSpPr>
        <p:spPr>
          <a:xfrm>
            <a:off x="1106805" y="598106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AI多轮语音对话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24574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4" name="矩形 43"/>
          <p:cNvSpPr>
            <a:spLocks noGrp="1"/>
          </p:cNvSpPr>
          <p:nvPr/>
        </p:nvSpPr>
        <p:spPr>
          <a:xfrm>
            <a:off x="25527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9527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拍学机识别+VQA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43243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9" name="矩形 48"/>
          <p:cNvSpPr>
            <a:spLocks noGrp="1"/>
          </p:cNvSpPr>
          <p:nvPr/>
        </p:nvSpPr>
        <p:spPr>
          <a:xfrm>
            <a:off x="48196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生活场景化学习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1912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2865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6865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引导式思维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80581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7" name="矩形 56"/>
          <p:cNvSpPr>
            <a:spLocks noGrp="1"/>
          </p:cNvSpPr>
          <p:nvPr/>
        </p:nvSpPr>
        <p:spPr>
          <a:xfrm>
            <a:off x="85534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知识迁移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99250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0" name="矩形 59"/>
          <p:cNvSpPr>
            <a:spLocks noGrp="1"/>
          </p:cNvSpPr>
          <p:nvPr/>
        </p:nvSpPr>
        <p:spPr>
          <a:xfrm>
            <a:off x="100203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04203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即时激励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1382375" y="65341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C6A3B"/>
                </a:solidFill>
              </a:defRPr>
            </a:pPr>
            <a:r>
              <a:rPr sz="1200" b="1">
                <a:solidFill>
                  <a:srgbClr val="8C6A3B"/>
                </a:solidFill>
              </a:rPr>
              <a:t>01</a:t>
            </a:r>
            <a:endParaRPr sz="1200" b="1">
              <a:solidFill>
                <a:srgbClr val="8C6A3B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" y="5961380"/>
            <a:ext cx="421005" cy="43751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2540" y="5949315"/>
            <a:ext cx="471805" cy="44958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0555" y="5967730"/>
            <a:ext cx="389890" cy="40513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0945" y="5969635"/>
            <a:ext cx="398780" cy="38925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5991225"/>
            <a:ext cx="402590" cy="40767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1410" y="5991225"/>
            <a:ext cx="408940" cy="38798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0300" y="355600"/>
            <a:ext cx="29845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1CC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266700"/>
            <a:ext cx="148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F47B20"/>
                </a:solidFill>
              </a:defRPr>
            </a:pPr>
            <a:r>
              <a:rPr sz="2250" b="1">
                <a:solidFill>
                  <a:srgbClr val="F47B20"/>
                </a:solidFill>
              </a:rPr>
              <a:t>童芯智造</a:t>
            </a:r>
            <a:endParaRPr sz="2250" b="1">
              <a:solidFill>
                <a:srgbClr val="F47B2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47675" y="6286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92719"/>
                </a:solidFill>
              </a:defRPr>
            </a:pPr>
            <a:r>
              <a:rPr sz="975" b="1">
                <a:solidFill>
                  <a:srgbClr val="392719"/>
                </a:solidFill>
              </a:rPr>
              <a:t>AI好奇心成长伙伴</a:t>
            </a:r>
            <a:endParaRPr sz="975" b="1">
              <a:solidFill>
                <a:srgbClr val="39271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305050" y="133350"/>
            <a:ext cx="95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F47B20"/>
                </a:solidFill>
              </a:defRPr>
            </a:pPr>
            <a:r>
              <a:rPr sz="4400" b="1">
                <a:solidFill>
                  <a:srgbClr val="F47B20"/>
                </a:solidFill>
              </a:rPr>
              <a:t>02</a:t>
            </a:r>
            <a:endParaRPr sz="4400" b="1">
              <a:solidFill>
                <a:srgbClr val="F47B2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276600" y="295275"/>
            <a:ext cx="6362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392719"/>
                </a:solidFill>
              </a:defRPr>
            </a:pPr>
            <a:r>
              <a:rPr sz="2475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亲子共创：把早上的探索变成睡前故事</a:t>
            </a:r>
            <a:endParaRPr sz="2475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295650" y="762000"/>
            <a:ext cx="676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7B5B3B"/>
                </a:solidFill>
              </a:defRPr>
            </a:pPr>
            <a:r>
              <a:rPr sz="1350">
                <a:solidFill>
                  <a:srgbClr val="7B5B3B"/>
                </a:solidFill>
              </a:rPr>
              <a:t>孩子、家长和AI一起，把知识变成专属家庭故事</a:t>
            </a:r>
            <a:endParaRPr sz="1350">
              <a:solidFill>
                <a:srgbClr val="7B5B3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867900" y="323850"/>
            <a:ext cx="1885950" cy="41910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 w="9525">
            <a:solidFill>
              <a:srgbClr val="F2C17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10096500" y="428625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47B20"/>
                </a:solidFill>
              </a:defRPr>
            </a:pPr>
            <a:r>
              <a:rPr sz="1275" b="1">
                <a:solidFill>
                  <a:srgbClr val="F47B20"/>
                </a:solidFill>
              </a:rPr>
              <a:t>夜晚共创时刻</a:t>
            </a:r>
            <a:endParaRPr sz="1275" b="1">
              <a:solidFill>
                <a:srgbClr val="F47B20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00050" y="1219200"/>
            <a:ext cx="6648450" cy="4362450"/>
          </a:xfrm>
          <a:prstGeom prst="roundRect">
            <a:avLst>
              <a:gd name="adj" fmla="val 6114"/>
            </a:avLst>
          </a:prstGeom>
          <a:solidFill>
            <a:srgbClr val="FFFDF7">
              <a:alpha val="94000"/>
            </a:srgbClr>
          </a:solidFill>
          <a:ln w="9525">
            <a:solidFill>
              <a:srgbClr val="F0CA8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13716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5F4124"/>
                </a:solidFill>
              </a:defRPr>
            </a:pPr>
            <a:r>
              <a:rPr lang="zh-CN" sz="1200" b="1">
                <a:solidFill>
                  <a:srgbClr val="5F4124"/>
                </a:solidFill>
                <a:ea typeface="宋体" panose="02010600030101010101" pitchFamily="2" charset="-122"/>
              </a:rPr>
              <a:t>会话</a:t>
            </a:r>
            <a:r>
              <a:rPr lang="en-US" altLang="zh-CN" sz="1200" b="1">
                <a:solidFill>
                  <a:srgbClr val="5F4124"/>
                </a:solidFill>
                <a:ea typeface="宋体" panose="02010600030101010101" pitchFamily="2" charset="-122"/>
              </a:rPr>
              <a:t>2</a:t>
            </a:r>
            <a:r>
              <a:rPr sz="1200" b="1">
                <a:solidFill>
                  <a:srgbClr val="5F4124"/>
                </a:solidFill>
              </a:rPr>
              <a:t> · 小星的水循环探索</a:t>
            </a:r>
            <a:endParaRPr sz="1200" b="1">
              <a:solidFill>
                <a:srgbClr val="5F4124"/>
              </a:solidFill>
            </a:endParaRPr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57950" y="1733550"/>
            <a:ext cx="400050" cy="400050"/>
          </a:xfrm>
          <a:prstGeom prst="ellipse">
            <a:avLst/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1600200" y="1714500"/>
            <a:ext cx="4762500" cy="609600"/>
          </a:xfrm>
          <a:prstGeom prst="roundRect">
            <a:avLst>
              <a:gd name="adj" fmla="val 25000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1733550" y="1790700"/>
            <a:ext cx="449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我把早上的茶杯热气、下雨和冰箱白雾整理成故事素材啦。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8650" y="2419350"/>
            <a:ext cx="400050" cy="400050"/>
          </a:xfrm>
          <a:prstGeom prst="ellipse">
            <a:avLst/>
          </a:prstGeom>
        </p:spPr>
      </p:pic>
      <p:sp>
        <p:nvSpPr>
          <p:cNvPr id="15" name="圆角矩形 14"/>
          <p:cNvSpPr>
            <a:spLocks noGrp="1"/>
          </p:cNvSpPr>
          <p:nvPr/>
        </p:nvSpPr>
        <p:spPr>
          <a:xfrm>
            <a:off x="1123950" y="240030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6E8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1257300" y="24765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C35B00"/>
                </a:solidFill>
              </a:defRPr>
            </a:pPr>
            <a:r>
              <a:rPr sz="1200" b="1">
                <a:solidFill>
                  <a:srgbClr val="C35B00"/>
                </a:solidFill>
              </a:rPr>
              <a:t>小星：</a:t>
            </a:r>
            <a:r>
              <a:rPr sz="1200" b="1">
                <a:solidFill>
                  <a:schemeClr val="tx1"/>
                </a:solidFill>
              </a:rPr>
              <a:t>我要让小水滴叫滴滴！它先从茶杯里飞出去。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8650" y="2933700"/>
            <a:ext cx="400050" cy="400050"/>
          </a:xfrm>
          <a:prstGeom prst="ellipse">
            <a:avLst/>
          </a:prstGeom>
        </p:spPr>
      </p:pic>
      <p:sp>
        <p:nvSpPr>
          <p:cNvPr id="18" name="圆角矩形 17"/>
          <p:cNvSpPr>
            <a:spLocks noGrp="1"/>
          </p:cNvSpPr>
          <p:nvPr/>
        </p:nvSpPr>
        <p:spPr>
          <a:xfrm>
            <a:off x="1123950" y="291465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1DE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1257300" y="29908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A86116"/>
                </a:solidFill>
              </a:defRPr>
            </a:pPr>
            <a:r>
              <a:rPr sz="1200" b="1">
                <a:solidFill>
                  <a:srgbClr val="A86116"/>
                </a:solidFill>
              </a:rPr>
              <a:t>妈妈：</a:t>
            </a:r>
            <a:r>
              <a:rPr sz="1200" b="1">
                <a:solidFill>
                  <a:schemeClr val="tx1"/>
                </a:solidFill>
              </a:rPr>
              <a:t>那妈妈可以当云朵妈妈吗？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57950" y="3448050"/>
            <a:ext cx="400050" cy="400050"/>
          </a:xfrm>
          <a:prstGeom prst="ellipse">
            <a:avLst/>
          </a:prstGeom>
        </p:spPr>
      </p:pic>
      <p:sp>
        <p:nvSpPr>
          <p:cNvPr id="21" name="圆角矩形 20"/>
          <p:cNvSpPr>
            <a:spLocks noGrp="1"/>
          </p:cNvSpPr>
          <p:nvPr/>
        </p:nvSpPr>
        <p:spPr>
          <a:xfrm>
            <a:off x="1600200" y="3429000"/>
            <a:ext cx="4762500" cy="609600"/>
          </a:xfrm>
          <a:prstGeom prst="roundRect">
            <a:avLst>
              <a:gd name="adj" fmla="val 25000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1733550" y="3505200"/>
            <a:ext cx="449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当然可以。小星当小水滴，妈妈当云朵，故事开始！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8650" y="4133850"/>
            <a:ext cx="400050" cy="400050"/>
          </a:xfrm>
          <a:prstGeom prst="ellipse">
            <a:avLst/>
          </a:prstGeom>
        </p:spPr>
      </p:pic>
      <p:sp>
        <p:nvSpPr>
          <p:cNvPr id="24" name="圆角矩形 23"/>
          <p:cNvSpPr>
            <a:spLocks noGrp="1"/>
          </p:cNvSpPr>
          <p:nvPr/>
        </p:nvSpPr>
        <p:spPr>
          <a:xfrm>
            <a:off x="1123950" y="411480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6E8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矩形 24"/>
          <p:cNvSpPr>
            <a:spLocks noGrp="1"/>
          </p:cNvSpPr>
          <p:nvPr/>
        </p:nvSpPr>
        <p:spPr>
          <a:xfrm>
            <a:off x="1257300" y="41910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C35B00"/>
                </a:solidFill>
              </a:defRPr>
            </a:pPr>
            <a:r>
              <a:rPr sz="1200" b="1">
                <a:solidFill>
                  <a:srgbClr val="C35B00"/>
                </a:solidFill>
              </a:rPr>
              <a:t>小星：</a:t>
            </a:r>
            <a:r>
              <a:rPr sz="1200" b="1">
                <a:solidFill>
                  <a:schemeClr val="tx1"/>
                </a:solidFill>
              </a:rPr>
              <a:t>茶杯茶杯，谢谢你！我要去天上冒险啦！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8" name="图片 8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8650" y="4648200"/>
            <a:ext cx="400050" cy="400050"/>
          </a:xfrm>
          <a:prstGeom prst="ellipse">
            <a:avLst/>
          </a:prstGeom>
        </p:spPr>
      </p:pic>
      <p:sp>
        <p:nvSpPr>
          <p:cNvPr id="27" name="圆角矩形 26"/>
          <p:cNvSpPr>
            <a:spLocks noGrp="1"/>
          </p:cNvSpPr>
          <p:nvPr/>
        </p:nvSpPr>
        <p:spPr>
          <a:xfrm>
            <a:off x="1123950" y="462915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1DE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1257300" y="47053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A86116"/>
                </a:solidFill>
              </a:defRPr>
            </a:pPr>
            <a:r>
              <a:rPr sz="1200" b="1">
                <a:solidFill>
                  <a:srgbClr val="A86116"/>
                </a:solidFill>
              </a:rPr>
              <a:t>妈妈：</a:t>
            </a:r>
            <a:r>
              <a:rPr sz="1200" b="1">
                <a:solidFill>
                  <a:schemeClr val="tx1"/>
                </a:solidFill>
              </a:rPr>
              <a:t>欢迎你呀小滴滴，云朵妈妈这里软软的。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57950" y="5162550"/>
            <a:ext cx="400050" cy="400050"/>
          </a:xfrm>
          <a:prstGeom prst="ellipse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1600200" y="5143500"/>
            <a:ext cx="4762500" cy="609600"/>
          </a:xfrm>
          <a:prstGeom prst="roundRect">
            <a:avLst>
              <a:gd name="adj" fmla="val 25000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1" name="矩形 30"/>
          <p:cNvSpPr>
            <a:spLocks noGrp="1"/>
          </p:cNvSpPr>
          <p:nvPr/>
        </p:nvSpPr>
        <p:spPr>
          <a:xfrm>
            <a:off x="1733550" y="5219700"/>
            <a:ext cx="449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云朵越来越重了，小水滴们会变成雨，落到花园再回到天空。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162800" y="1123950"/>
            <a:ext cx="4724400" cy="361950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F2C17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pic>
        <p:nvPicPr>
          <p:cNvPr id="95" name="图片 94"/>
          <p:cNvPicPr>
            <a:picLocks noChangeAspect="1"/>
          </p:cNvPicPr>
          <p:nvPr/>
        </p:nvPicPr>
        <p:blipFill>
          <a:blip r:embed="rId4"/>
          <a:srcRect l="12793" r="12793"/>
          <a:stretch>
            <a:fillRect/>
          </a:stretch>
        </p:blipFill>
        <p:spPr>
          <a:xfrm>
            <a:off x="7258050" y="1219200"/>
            <a:ext cx="4533900" cy="3429000"/>
          </a:xfrm>
          <a:prstGeom prst="roundRect">
            <a:avLst>
              <a:gd name="adj" fmla="val 6667"/>
            </a:avLst>
          </a:prstGeom>
        </p:spPr>
      </p:pic>
      <p:sp>
        <p:nvSpPr>
          <p:cNvPr id="34" name="圆角矩形 33"/>
          <p:cNvSpPr>
            <a:spLocks noGrp="1"/>
          </p:cNvSpPr>
          <p:nvPr/>
        </p:nvSpPr>
        <p:spPr>
          <a:xfrm>
            <a:off x="7258050" y="4876800"/>
            <a:ext cx="4533900" cy="704850"/>
          </a:xfrm>
          <a:prstGeom prst="roundRect">
            <a:avLst>
              <a:gd name="adj" fmla="val 29730"/>
            </a:avLst>
          </a:prstGeom>
          <a:solidFill>
            <a:srgbClr val="FFF7E8"/>
          </a:solidFill>
          <a:ln w="9525">
            <a:solidFill>
              <a:srgbClr val="F0CA8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5" name="矩形 34"/>
          <p:cNvSpPr>
            <a:spLocks noGrp="1"/>
          </p:cNvSpPr>
          <p:nvPr/>
        </p:nvSpPr>
        <p:spPr>
          <a:xfrm>
            <a:off x="7524750" y="50101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47B20"/>
                </a:solidFill>
              </a:defRPr>
            </a:pPr>
            <a:r>
              <a:rPr sz="1200" b="1">
                <a:solidFill>
                  <a:srgbClr val="F47B20"/>
                </a:solidFill>
              </a:rPr>
              <a:t>场景亮点</a:t>
            </a:r>
            <a:endParaRPr sz="1200" b="1">
              <a:solidFill>
                <a:srgbClr val="F47B2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420100" y="5000625"/>
            <a:ext cx="3105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晚上由孩子和妈妈共同出演，把知识变成家庭故事。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400050" y="5810250"/>
            <a:ext cx="11391900" cy="742950"/>
          </a:xfrm>
          <a:prstGeom prst="roundRect">
            <a:avLst>
              <a:gd name="adj" fmla="val 35897"/>
            </a:avLst>
          </a:prstGeom>
          <a:solidFill>
            <a:srgbClr val="FFF7E8"/>
          </a:solidFill>
          <a:ln w="9525">
            <a:solidFill>
              <a:srgbClr val="F0C3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8" name="圆角矩形 37"/>
          <p:cNvSpPr>
            <a:spLocks noGrp="1"/>
          </p:cNvSpPr>
          <p:nvPr/>
        </p:nvSpPr>
        <p:spPr>
          <a:xfrm>
            <a:off x="5905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9" name="椭圆 38"/>
          <p:cNvSpPr>
            <a:spLocks noGrp="1"/>
          </p:cNvSpPr>
          <p:nvPr/>
        </p:nvSpPr>
        <p:spPr>
          <a:xfrm>
            <a:off x="685800" y="6010275"/>
            <a:ext cx="342900" cy="342900"/>
          </a:xfrm>
          <a:prstGeom prst="ellipse">
            <a:avLst/>
          </a:prstGeom>
          <a:solidFill>
            <a:srgbClr val="36B37E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858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0858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亲子共创剧场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24574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3" name="椭圆 42"/>
          <p:cNvSpPr>
            <a:spLocks noGrp="1"/>
          </p:cNvSpPr>
          <p:nvPr/>
        </p:nvSpPr>
        <p:spPr>
          <a:xfrm>
            <a:off x="2552700" y="6010275"/>
            <a:ext cx="342900" cy="342900"/>
          </a:xfrm>
          <a:prstGeom prst="ellipse">
            <a:avLst/>
          </a:prstGeom>
          <a:solidFill>
            <a:srgbClr val="F26A36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5527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9527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低门槛家长参与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43243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7" name="椭圆 46"/>
          <p:cNvSpPr>
            <a:spLocks noGrp="1"/>
          </p:cNvSpPr>
          <p:nvPr/>
        </p:nvSpPr>
        <p:spPr>
          <a:xfrm>
            <a:off x="4419600" y="6010275"/>
            <a:ext cx="342900" cy="342900"/>
          </a:xfrm>
          <a:prstGeom prst="ellipse">
            <a:avLst/>
          </a:prstGeom>
          <a:solidFill>
            <a:srgbClr val="397CF6"/>
          </a:solidFill>
          <a:ln w="0">
            <a:noFill/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44196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8196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多端联动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1912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1" name="椭圆 50"/>
          <p:cNvSpPr>
            <a:spLocks noGrp="1"/>
          </p:cNvSpPr>
          <p:nvPr/>
        </p:nvSpPr>
        <p:spPr>
          <a:xfrm>
            <a:off x="6286500" y="6010275"/>
            <a:ext cx="342900" cy="342900"/>
          </a:xfrm>
          <a:prstGeom prst="ellipse">
            <a:avLst/>
          </a:prstGeom>
          <a:solidFill>
            <a:srgbClr val="7C5BEF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2865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6865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体感互动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80581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5" name="椭圆 54"/>
          <p:cNvSpPr>
            <a:spLocks noGrp="1"/>
          </p:cNvSpPr>
          <p:nvPr/>
        </p:nvSpPr>
        <p:spPr>
          <a:xfrm>
            <a:off x="8153400" y="6010275"/>
            <a:ext cx="342900" cy="342900"/>
          </a:xfrm>
          <a:prstGeom prst="ellipse">
            <a:avLst/>
          </a:prstGeom>
          <a:solidFill>
            <a:srgbClr val="28B8A7"/>
          </a:solidFill>
          <a:ln w="0">
            <a:noFill/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1534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5534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知识内化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99250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9" name="椭圆 58"/>
          <p:cNvSpPr>
            <a:spLocks noGrp="1"/>
          </p:cNvSpPr>
          <p:nvPr/>
        </p:nvSpPr>
        <p:spPr>
          <a:xfrm>
            <a:off x="10020300" y="6010275"/>
            <a:ext cx="342900" cy="342900"/>
          </a:xfrm>
          <a:prstGeom prst="ellipse">
            <a:avLst/>
          </a:prstGeom>
          <a:solidFill>
            <a:srgbClr val="F2A51C"/>
          </a:solidFill>
          <a:ln w="0">
            <a:noFill/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100203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04203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精彩片段保存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1382375" y="65341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C6A3B"/>
                </a:solidFill>
              </a:defRPr>
            </a:pPr>
            <a:r>
              <a:rPr sz="1200" b="1">
                <a:solidFill>
                  <a:srgbClr val="8C6A3B"/>
                </a:solidFill>
              </a:rPr>
              <a:t>02</a:t>
            </a:r>
            <a:endParaRPr sz="1200" b="1">
              <a:solidFill>
                <a:srgbClr val="8C6A3B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4105" y="428625"/>
            <a:ext cx="326390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1CC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266700"/>
            <a:ext cx="148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F47B20"/>
                </a:solidFill>
              </a:defRPr>
            </a:pPr>
            <a:r>
              <a:rPr sz="2250" b="1">
                <a:solidFill>
                  <a:srgbClr val="F47B20"/>
                </a:solidFill>
              </a:rPr>
              <a:t>童芯智造</a:t>
            </a:r>
            <a:endParaRPr sz="2250" b="1">
              <a:solidFill>
                <a:srgbClr val="F47B2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47675" y="6286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92719"/>
                </a:solidFill>
              </a:defRPr>
            </a:pPr>
            <a:r>
              <a:rPr sz="975" b="1">
                <a:solidFill>
                  <a:srgbClr val="392719"/>
                </a:solidFill>
              </a:rPr>
              <a:t>AI好奇心成长伙伴</a:t>
            </a:r>
            <a:endParaRPr sz="975" b="1">
              <a:solidFill>
                <a:srgbClr val="39271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305050" y="133350"/>
            <a:ext cx="95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F47B20"/>
                </a:solidFill>
              </a:defRPr>
            </a:pPr>
            <a:r>
              <a:rPr sz="3900" b="1">
                <a:solidFill>
                  <a:srgbClr val="F47B20"/>
                </a:solidFill>
              </a:rPr>
              <a:t>03</a:t>
            </a:r>
            <a:endParaRPr sz="3900" b="1">
              <a:solidFill>
                <a:srgbClr val="F47B2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276600" y="295275"/>
            <a:ext cx="6362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392719"/>
                </a:solidFill>
              </a:defRPr>
            </a:pPr>
            <a:r>
              <a:rPr sz="2475" b="1">
                <a:solidFill>
                  <a:srgbClr val="392719"/>
                </a:solidFill>
              </a:rPr>
              <a:t>AI绘本生成：故事投影到电视上</a:t>
            </a:r>
            <a:endParaRPr sz="2475" b="1">
              <a:solidFill>
                <a:srgbClr val="392719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295650" y="762000"/>
            <a:ext cx="676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7B5B3B"/>
                </a:solidFill>
              </a:defRPr>
            </a:pPr>
            <a:r>
              <a:rPr sz="1350">
                <a:solidFill>
                  <a:srgbClr val="7B5B3B"/>
                </a:solidFill>
              </a:rPr>
              <a:t>把对话、选择和手绘作品，实时生成孩子自己的绘本</a:t>
            </a:r>
            <a:endParaRPr sz="1350">
              <a:solidFill>
                <a:srgbClr val="7B5B3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867900" y="323850"/>
            <a:ext cx="1885950" cy="41910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 w="9525">
            <a:solidFill>
              <a:srgbClr val="F2C17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10096500" y="428625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47B20"/>
                </a:solidFill>
              </a:defRPr>
            </a:pPr>
            <a:r>
              <a:rPr sz="1275" b="1">
                <a:solidFill>
                  <a:srgbClr val="F47B20"/>
                </a:solidFill>
              </a:rPr>
              <a:t>绘本生成时刻</a:t>
            </a:r>
            <a:endParaRPr sz="1275" b="1">
              <a:solidFill>
                <a:srgbClr val="F47B20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00050" y="1219200"/>
            <a:ext cx="6648450" cy="4362450"/>
          </a:xfrm>
          <a:prstGeom prst="roundRect">
            <a:avLst>
              <a:gd name="adj" fmla="val 6114"/>
            </a:avLst>
          </a:prstGeom>
          <a:solidFill>
            <a:srgbClr val="FFFDF7">
              <a:alpha val="94000"/>
            </a:srgbClr>
          </a:solidFill>
          <a:ln w="9525">
            <a:solidFill>
              <a:srgbClr val="F0CA8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13716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5F4124"/>
                </a:solidFill>
              </a:defRPr>
            </a:pPr>
            <a:r>
              <a:rPr lang="zh-CN" sz="1200" b="1">
                <a:solidFill>
                  <a:srgbClr val="5F4124"/>
                </a:solidFill>
                <a:ea typeface="宋体" panose="02010600030101010101" pitchFamily="2" charset="-122"/>
              </a:rPr>
              <a:t>会话</a:t>
            </a:r>
            <a:r>
              <a:rPr lang="en-US" altLang="zh-CN" sz="1200" b="1">
                <a:solidFill>
                  <a:srgbClr val="5F4124"/>
                </a:solidFill>
                <a:ea typeface="宋体" panose="02010600030101010101" pitchFamily="2" charset="-122"/>
              </a:rPr>
              <a:t>3</a:t>
            </a:r>
            <a:r>
              <a:rPr sz="1200" b="1">
                <a:solidFill>
                  <a:srgbClr val="5F4124"/>
                </a:solidFill>
              </a:rPr>
              <a:t> · 小星的水循环探索</a:t>
            </a:r>
            <a:endParaRPr sz="1200" b="1">
              <a:solidFill>
                <a:srgbClr val="5F4124"/>
              </a:solidFill>
            </a:endParaRPr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57950" y="1733550"/>
            <a:ext cx="400050" cy="400050"/>
          </a:xfrm>
          <a:prstGeom prst="ellipse">
            <a:avLst/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1600200" y="1714500"/>
            <a:ext cx="4762500" cy="438150"/>
          </a:xfrm>
          <a:prstGeom prst="roundRect">
            <a:avLst>
              <a:gd name="adj" fmla="val 34783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1733550" y="17907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闯关选择和刚才的故事，已经生成专属绘本啦。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8650" y="2247900"/>
            <a:ext cx="400050" cy="400050"/>
          </a:xfrm>
          <a:prstGeom prst="ellipse">
            <a:avLst/>
          </a:prstGeom>
        </p:spPr>
      </p:pic>
      <p:sp>
        <p:nvSpPr>
          <p:cNvPr id="15" name="圆角矩形 14"/>
          <p:cNvSpPr>
            <a:spLocks noGrp="1"/>
          </p:cNvSpPr>
          <p:nvPr/>
        </p:nvSpPr>
        <p:spPr>
          <a:xfrm>
            <a:off x="1123950" y="222885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6E8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1257300" y="23050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C35B00"/>
                </a:solidFill>
              </a:defRPr>
            </a:pPr>
            <a:r>
              <a:rPr sz="1200" b="1">
                <a:solidFill>
                  <a:srgbClr val="C35B00"/>
                </a:solidFill>
              </a:rPr>
              <a:t>小星：</a:t>
            </a:r>
            <a:r>
              <a:rPr sz="1200" b="1">
                <a:solidFill>
                  <a:schemeClr val="tx1"/>
                </a:solidFill>
              </a:rPr>
              <a:t>我真的在绘本里！我是小星向导！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8650" y="2762250"/>
            <a:ext cx="400050" cy="400050"/>
          </a:xfrm>
          <a:prstGeom prst="ellipse">
            <a:avLst/>
          </a:prstGeom>
        </p:spPr>
      </p:pic>
      <p:sp>
        <p:nvSpPr>
          <p:cNvPr id="18" name="圆角矩形 17"/>
          <p:cNvSpPr>
            <a:spLocks noGrp="1"/>
          </p:cNvSpPr>
          <p:nvPr/>
        </p:nvSpPr>
        <p:spPr>
          <a:xfrm>
            <a:off x="1123950" y="274320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1DE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1257300" y="28194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A86116"/>
                </a:solidFill>
              </a:defRPr>
            </a:pPr>
            <a:r>
              <a:rPr sz="1200" b="1">
                <a:solidFill>
                  <a:srgbClr val="A86116"/>
                </a:solidFill>
              </a:rPr>
              <a:t>妈妈：</a:t>
            </a:r>
            <a:r>
              <a:rPr sz="1200" b="1">
                <a:solidFill>
                  <a:schemeClr val="tx1"/>
                </a:solidFill>
              </a:rPr>
              <a:t>最后一页还能放你画的窗户和滴滴吗？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57950" y="3276600"/>
            <a:ext cx="400050" cy="400050"/>
          </a:xfrm>
          <a:prstGeom prst="ellipse">
            <a:avLst/>
          </a:prstGeom>
        </p:spPr>
      </p:pic>
      <p:sp>
        <p:nvSpPr>
          <p:cNvPr id="21" name="圆角矩形 20"/>
          <p:cNvSpPr>
            <a:spLocks noGrp="1"/>
          </p:cNvSpPr>
          <p:nvPr/>
        </p:nvSpPr>
        <p:spPr>
          <a:xfrm>
            <a:off x="1600200" y="3257550"/>
            <a:ext cx="4762500" cy="476250"/>
          </a:xfrm>
          <a:prstGeom prst="roundRect">
            <a:avLst>
              <a:gd name="adj" fmla="val 25000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1733550" y="3333750"/>
            <a:ext cx="449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可以，拍学机已经识别手绘作品，正在融合进结尾页</a:t>
            </a:r>
            <a:r>
              <a:rPr sz="1200" b="1">
                <a:solidFill>
                  <a:srgbClr val="238148"/>
                </a:solidFill>
              </a:rPr>
              <a:t>。</a:t>
            </a:r>
            <a:endParaRPr sz="1200" b="1">
              <a:solidFill>
                <a:srgbClr val="238148"/>
              </a:solidFill>
            </a:endParaRPr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8650" y="3962400"/>
            <a:ext cx="400050" cy="400050"/>
          </a:xfrm>
          <a:prstGeom prst="ellipse">
            <a:avLst/>
          </a:prstGeom>
        </p:spPr>
      </p:pic>
      <p:sp>
        <p:nvSpPr>
          <p:cNvPr id="24" name="圆角矩形 23"/>
          <p:cNvSpPr>
            <a:spLocks noGrp="1"/>
          </p:cNvSpPr>
          <p:nvPr/>
        </p:nvSpPr>
        <p:spPr>
          <a:xfrm>
            <a:off x="1123950" y="394335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6E8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矩形 24"/>
          <p:cNvSpPr>
            <a:spLocks noGrp="1"/>
          </p:cNvSpPr>
          <p:nvPr/>
        </p:nvSpPr>
        <p:spPr>
          <a:xfrm>
            <a:off x="1257300" y="40195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C35B00"/>
                </a:solidFill>
              </a:defRPr>
            </a:pPr>
            <a:r>
              <a:rPr sz="1200" b="1">
                <a:solidFill>
                  <a:srgbClr val="C35B00"/>
                </a:solidFill>
              </a:rPr>
              <a:t>小星：</a:t>
            </a:r>
            <a:r>
              <a:rPr sz="1200" b="1">
                <a:solidFill>
                  <a:schemeClr val="tx1"/>
                </a:solidFill>
              </a:rPr>
              <a:t>滴滴会对我说谢谢吗？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8" name="图片 8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57950" y="4476750"/>
            <a:ext cx="400050" cy="400050"/>
          </a:xfrm>
          <a:prstGeom prst="ellipse">
            <a:avLst/>
          </a:prstGeom>
        </p:spPr>
      </p:pic>
      <p:sp>
        <p:nvSpPr>
          <p:cNvPr id="27" name="圆角矩形 26"/>
          <p:cNvSpPr>
            <a:spLocks noGrp="1"/>
          </p:cNvSpPr>
          <p:nvPr/>
        </p:nvSpPr>
        <p:spPr>
          <a:xfrm>
            <a:off x="1600200" y="4457700"/>
            <a:ext cx="4762500" cy="501650"/>
          </a:xfrm>
          <a:prstGeom prst="roundRect">
            <a:avLst>
              <a:gd name="adj" fmla="val 25000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1733550" y="4533900"/>
            <a:ext cx="449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会哦。旁白写好了：谢谢你带我完成水循环大冒险。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57950" y="5162550"/>
            <a:ext cx="400050" cy="400050"/>
          </a:xfrm>
          <a:prstGeom prst="ellipse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1559560" y="5067300"/>
            <a:ext cx="4762500" cy="419100"/>
          </a:xfrm>
          <a:prstGeom prst="roundRect">
            <a:avLst>
              <a:gd name="adj" fmla="val 25000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1" name="矩形 30"/>
          <p:cNvSpPr>
            <a:spLocks noGrp="1"/>
          </p:cNvSpPr>
          <p:nvPr/>
        </p:nvSpPr>
        <p:spPr>
          <a:xfrm>
            <a:off x="1733550" y="5067300"/>
            <a:ext cx="4495800" cy="347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绘本PDF、亲子朗读版、小游戏版和家长端回顾版已同步。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162800" y="1123950"/>
            <a:ext cx="4724400" cy="361950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F2C17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pic>
        <p:nvPicPr>
          <p:cNvPr id="95" name="图片 94"/>
          <p:cNvPicPr>
            <a:picLocks noChangeAspect="1"/>
          </p:cNvPicPr>
          <p:nvPr/>
        </p:nvPicPr>
        <p:blipFill>
          <a:blip r:embed="rId4"/>
          <a:srcRect l="12793" r="12793"/>
          <a:stretch>
            <a:fillRect/>
          </a:stretch>
        </p:blipFill>
        <p:spPr>
          <a:xfrm>
            <a:off x="7258050" y="1219200"/>
            <a:ext cx="4533900" cy="3429000"/>
          </a:xfrm>
          <a:prstGeom prst="roundRect">
            <a:avLst>
              <a:gd name="adj" fmla="val 6667"/>
            </a:avLst>
          </a:prstGeom>
        </p:spPr>
      </p:pic>
      <p:sp>
        <p:nvSpPr>
          <p:cNvPr id="34" name="圆角矩形 33"/>
          <p:cNvSpPr>
            <a:spLocks noGrp="1"/>
          </p:cNvSpPr>
          <p:nvPr/>
        </p:nvSpPr>
        <p:spPr>
          <a:xfrm>
            <a:off x="7258050" y="4876800"/>
            <a:ext cx="4533900" cy="704850"/>
          </a:xfrm>
          <a:prstGeom prst="roundRect">
            <a:avLst>
              <a:gd name="adj" fmla="val 29730"/>
            </a:avLst>
          </a:prstGeom>
          <a:solidFill>
            <a:srgbClr val="FFF7E8"/>
          </a:solidFill>
          <a:ln w="9525">
            <a:solidFill>
              <a:srgbClr val="F0CA8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5" name="矩形 34"/>
          <p:cNvSpPr>
            <a:spLocks noGrp="1"/>
          </p:cNvSpPr>
          <p:nvPr/>
        </p:nvSpPr>
        <p:spPr>
          <a:xfrm>
            <a:off x="7524750" y="50101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47B20"/>
                </a:solidFill>
              </a:defRPr>
            </a:pPr>
            <a:r>
              <a:rPr sz="1200" b="1">
                <a:solidFill>
                  <a:srgbClr val="F47B20"/>
                </a:solidFill>
              </a:rPr>
              <a:t>场景亮点</a:t>
            </a:r>
            <a:endParaRPr sz="1200" b="1">
              <a:solidFill>
                <a:srgbClr val="F47B2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420100" y="5000625"/>
            <a:ext cx="3105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对话、选择、手绘作品自动沉淀为可分享的亲子绘本。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400050" y="5810250"/>
            <a:ext cx="11391900" cy="742950"/>
          </a:xfrm>
          <a:prstGeom prst="roundRect">
            <a:avLst>
              <a:gd name="adj" fmla="val 35897"/>
            </a:avLst>
          </a:prstGeom>
          <a:solidFill>
            <a:srgbClr val="FFF7E8"/>
          </a:solidFill>
          <a:ln w="9525">
            <a:solidFill>
              <a:srgbClr val="F0C3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8" name="圆角矩形 37"/>
          <p:cNvSpPr>
            <a:spLocks noGrp="1"/>
          </p:cNvSpPr>
          <p:nvPr/>
        </p:nvSpPr>
        <p:spPr>
          <a:xfrm>
            <a:off x="5905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9" name="椭圆 38"/>
          <p:cNvSpPr>
            <a:spLocks noGrp="1"/>
          </p:cNvSpPr>
          <p:nvPr/>
        </p:nvSpPr>
        <p:spPr>
          <a:xfrm>
            <a:off x="685800" y="6010275"/>
            <a:ext cx="342900" cy="342900"/>
          </a:xfrm>
          <a:prstGeom prst="ellipse">
            <a:avLst/>
          </a:prstGeom>
          <a:solidFill>
            <a:srgbClr val="36B37E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858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0858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392719"/>
                </a:solidFill>
              </a:defRPr>
            </a:pPr>
            <a:r>
              <a:rPr sz="1065" b="1">
                <a:solidFill>
                  <a:srgbClr val="392719"/>
                </a:solidFill>
              </a:rPr>
              <a:t>AIGC实时绘本生成</a:t>
            </a:r>
            <a:endParaRPr sz="1065" b="1">
              <a:solidFill>
                <a:srgbClr val="392719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24574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3" name="椭圆 42"/>
          <p:cNvSpPr>
            <a:spLocks noGrp="1"/>
          </p:cNvSpPr>
          <p:nvPr/>
        </p:nvSpPr>
        <p:spPr>
          <a:xfrm>
            <a:off x="2552700" y="6010275"/>
            <a:ext cx="342900" cy="342900"/>
          </a:xfrm>
          <a:prstGeom prst="ellipse">
            <a:avLst/>
          </a:prstGeom>
          <a:solidFill>
            <a:srgbClr val="F26A36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5527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9527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绘本代入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43243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7" name="椭圆 46"/>
          <p:cNvSpPr>
            <a:spLocks noGrp="1"/>
          </p:cNvSpPr>
          <p:nvPr/>
        </p:nvSpPr>
        <p:spPr>
          <a:xfrm>
            <a:off x="4419600" y="6010275"/>
            <a:ext cx="342900" cy="342900"/>
          </a:xfrm>
          <a:prstGeom prst="ellipse">
            <a:avLst/>
          </a:prstGeom>
          <a:solidFill>
            <a:srgbClr val="397CF6"/>
          </a:solidFill>
          <a:ln w="0">
            <a:noFill/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44196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8196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手绘/语音融合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1912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1" name="椭圆 50"/>
          <p:cNvSpPr>
            <a:spLocks noGrp="1"/>
          </p:cNvSpPr>
          <p:nvPr/>
        </p:nvSpPr>
        <p:spPr>
          <a:xfrm>
            <a:off x="6286500" y="6010275"/>
            <a:ext cx="342900" cy="342900"/>
          </a:xfrm>
          <a:prstGeom prst="ellipse">
            <a:avLst/>
          </a:prstGeom>
          <a:solidFill>
            <a:srgbClr val="7C5BEF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2865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6865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电视端投屏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80581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5" name="椭圆 54"/>
          <p:cNvSpPr>
            <a:spLocks noGrp="1"/>
          </p:cNvSpPr>
          <p:nvPr/>
        </p:nvSpPr>
        <p:spPr>
          <a:xfrm>
            <a:off x="8153400" y="6010275"/>
            <a:ext cx="342900" cy="342900"/>
          </a:xfrm>
          <a:prstGeom prst="ellipse">
            <a:avLst/>
          </a:prstGeom>
          <a:solidFill>
            <a:srgbClr val="28B8A7"/>
          </a:solidFill>
          <a:ln w="0">
            <a:noFill/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1534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5534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家长端同步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99250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9" name="椭圆 58"/>
          <p:cNvSpPr>
            <a:spLocks noGrp="1"/>
          </p:cNvSpPr>
          <p:nvPr/>
        </p:nvSpPr>
        <p:spPr>
          <a:xfrm>
            <a:off x="10020300" y="6010275"/>
            <a:ext cx="342900" cy="342900"/>
          </a:xfrm>
          <a:prstGeom prst="ellipse">
            <a:avLst/>
          </a:prstGeom>
          <a:solidFill>
            <a:srgbClr val="F2A51C"/>
          </a:solidFill>
          <a:ln w="0">
            <a:noFill/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100203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04203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多版本内容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1382375" y="65341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C6A3B"/>
                </a:solidFill>
              </a:defRPr>
            </a:pPr>
            <a:r>
              <a:rPr sz="1200" b="1">
                <a:solidFill>
                  <a:srgbClr val="8C6A3B"/>
                </a:solidFill>
              </a:rPr>
              <a:t>03</a:t>
            </a:r>
            <a:endParaRPr sz="1200" b="1">
              <a:solidFill>
                <a:srgbClr val="8C6A3B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0300" y="403225"/>
            <a:ext cx="2540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1CC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266700"/>
            <a:ext cx="148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F47B20"/>
                </a:solidFill>
              </a:defRPr>
            </a:pPr>
            <a:r>
              <a:rPr sz="2250" b="1">
                <a:solidFill>
                  <a:srgbClr val="F47B20"/>
                </a:solidFill>
              </a:rPr>
              <a:t>童芯智造</a:t>
            </a:r>
            <a:endParaRPr sz="2250" b="1">
              <a:solidFill>
                <a:srgbClr val="F47B2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47675" y="6286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92719"/>
                </a:solidFill>
              </a:defRPr>
            </a:pPr>
            <a:r>
              <a:rPr sz="975" b="1">
                <a:solidFill>
                  <a:srgbClr val="392719"/>
                </a:solidFill>
              </a:rPr>
              <a:t>AI好奇心成长伙伴</a:t>
            </a:r>
            <a:endParaRPr sz="975" b="1">
              <a:solidFill>
                <a:srgbClr val="39271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305050" y="133350"/>
            <a:ext cx="95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F47B20"/>
                </a:solidFill>
              </a:defRPr>
            </a:pPr>
            <a:r>
              <a:rPr sz="3900" b="1">
                <a:solidFill>
                  <a:srgbClr val="F47B20"/>
                </a:solidFill>
              </a:rPr>
              <a:t>04</a:t>
            </a:r>
            <a:endParaRPr sz="3900" b="1">
              <a:solidFill>
                <a:srgbClr val="F47B2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276600" y="295275"/>
            <a:ext cx="6362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392719"/>
                </a:solidFill>
              </a:defRPr>
            </a:pPr>
            <a:r>
              <a:rPr sz="2475" b="1">
                <a:solidFill>
                  <a:srgbClr val="392719"/>
                </a:solidFill>
              </a:rPr>
              <a:t>AI主动生成小游戏：让知识变成闯关记忆</a:t>
            </a:r>
            <a:endParaRPr sz="2475" b="1">
              <a:solidFill>
                <a:srgbClr val="392719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295650" y="762000"/>
            <a:ext cx="676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7B5B3B"/>
                </a:solidFill>
              </a:defRPr>
            </a:pPr>
            <a:r>
              <a:rPr sz="1350">
                <a:solidFill>
                  <a:srgbClr val="7B5B3B"/>
                </a:solidFill>
              </a:rPr>
              <a:t>把绘本故事转化为任务关卡，在游戏中巩固理解</a:t>
            </a:r>
            <a:endParaRPr sz="1350">
              <a:solidFill>
                <a:srgbClr val="7B5B3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867900" y="323850"/>
            <a:ext cx="1885950" cy="41910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 w="9525">
            <a:solidFill>
              <a:srgbClr val="F2C17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10096500" y="428625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47B20"/>
                </a:solidFill>
              </a:defRPr>
            </a:pPr>
            <a:r>
              <a:rPr sz="1275" b="1">
                <a:solidFill>
                  <a:srgbClr val="F47B20"/>
                </a:solidFill>
              </a:rPr>
              <a:t>游戏生成时刻</a:t>
            </a:r>
            <a:endParaRPr sz="1275" b="1">
              <a:solidFill>
                <a:srgbClr val="F47B20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00050" y="1219200"/>
            <a:ext cx="6648450" cy="4362450"/>
          </a:xfrm>
          <a:prstGeom prst="roundRect">
            <a:avLst>
              <a:gd name="adj" fmla="val 6114"/>
            </a:avLst>
          </a:prstGeom>
          <a:solidFill>
            <a:srgbClr val="FFFDF7">
              <a:alpha val="94000"/>
            </a:srgbClr>
          </a:solidFill>
          <a:ln w="9525">
            <a:solidFill>
              <a:srgbClr val="F0CA8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13716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5F4124"/>
                </a:solidFill>
              </a:defRPr>
            </a:pPr>
            <a:r>
              <a:rPr lang="zh-CN" sz="1200" b="1">
                <a:solidFill>
                  <a:srgbClr val="5F4124"/>
                </a:solidFill>
                <a:ea typeface="宋体" panose="02010600030101010101" pitchFamily="2" charset="-122"/>
              </a:rPr>
              <a:t>会话</a:t>
            </a:r>
            <a:r>
              <a:rPr lang="en-US" altLang="zh-CN" sz="1200" b="1">
                <a:solidFill>
                  <a:srgbClr val="5F4124"/>
                </a:solidFill>
                <a:ea typeface="宋体" panose="02010600030101010101" pitchFamily="2" charset="-122"/>
              </a:rPr>
              <a:t>4</a:t>
            </a:r>
            <a:r>
              <a:rPr sz="1200" b="1">
                <a:solidFill>
                  <a:srgbClr val="5F4124"/>
                </a:solidFill>
              </a:rPr>
              <a:t> · 小星的水循环探索</a:t>
            </a:r>
            <a:endParaRPr sz="1200" b="1">
              <a:solidFill>
                <a:srgbClr val="5F4124"/>
              </a:solidFill>
            </a:endParaRPr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57950" y="1733550"/>
            <a:ext cx="400050" cy="400050"/>
          </a:xfrm>
          <a:prstGeom prst="ellipse">
            <a:avLst/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1600200" y="1714500"/>
            <a:ext cx="4762500" cy="438150"/>
          </a:xfrm>
          <a:prstGeom prst="roundRect">
            <a:avLst>
              <a:gd name="adj" fmla="val 34783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1733550" y="17907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小星，想不想把滴滴的故事变成小游戏？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8650" y="2247900"/>
            <a:ext cx="400050" cy="400050"/>
          </a:xfrm>
          <a:prstGeom prst="ellipse">
            <a:avLst/>
          </a:prstGeom>
        </p:spPr>
      </p:pic>
      <p:sp>
        <p:nvSpPr>
          <p:cNvPr id="15" name="圆角矩形 14"/>
          <p:cNvSpPr>
            <a:spLocks noGrp="1"/>
          </p:cNvSpPr>
          <p:nvPr/>
        </p:nvSpPr>
        <p:spPr>
          <a:xfrm>
            <a:off x="1123950" y="222885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6E8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1257300" y="23050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C35B00"/>
                </a:solidFill>
              </a:defRPr>
            </a:pPr>
            <a:r>
              <a:rPr sz="1200" b="1">
                <a:solidFill>
                  <a:srgbClr val="C35B00"/>
                </a:solidFill>
              </a:rPr>
              <a:t>小星：</a:t>
            </a:r>
            <a:r>
              <a:rPr sz="1200" b="1">
                <a:solidFill>
                  <a:schemeClr val="tx1"/>
                </a:solidFill>
              </a:rPr>
              <a:t>要！我要帮滴滴回家！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8650" y="2762250"/>
            <a:ext cx="400050" cy="400050"/>
          </a:xfrm>
          <a:prstGeom prst="ellipse">
            <a:avLst/>
          </a:prstGeom>
        </p:spPr>
      </p:pic>
      <p:sp>
        <p:nvSpPr>
          <p:cNvPr id="18" name="圆角矩形 17"/>
          <p:cNvSpPr>
            <a:spLocks noGrp="1"/>
          </p:cNvSpPr>
          <p:nvPr/>
        </p:nvSpPr>
        <p:spPr>
          <a:xfrm>
            <a:off x="1123950" y="274320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1DE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1257300" y="28194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A86116"/>
                </a:solidFill>
              </a:defRPr>
            </a:pPr>
            <a:r>
              <a:rPr sz="1200" b="1">
                <a:solidFill>
                  <a:srgbClr val="A86116"/>
                </a:solidFill>
              </a:rPr>
              <a:t>妈妈：</a:t>
            </a:r>
            <a:r>
              <a:rPr sz="1200" b="1">
                <a:solidFill>
                  <a:schemeClr val="tx1"/>
                </a:solidFill>
              </a:rPr>
              <a:t>游戏里也能复习水循环吗？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57950" y="3276600"/>
            <a:ext cx="400050" cy="400050"/>
          </a:xfrm>
          <a:prstGeom prst="ellipse">
            <a:avLst/>
          </a:prstGeom>
        </p:spPr>
      </p:pic>
      <p:sp>
        <p:nvSpPr>
          <p:cNvPr id="21" name="圆角矩形 20"/>
          <p:cNvSpPr>
            <a:spLocks noGrp="1"/>
          </p:cNvSpPr>
          <p:nvPr/>
        </p:nvSpPr>
        <p:spPr>
          <a:xfrm>
            <a:off x="1600200" y="3257550"/>
            <a:ext cx="4762500" cy="609600"/>
          </a:xfrm>
          <a:prstGeom prst="roundRect">
            <a:avLst>
              <a:gd name="adj" fmla="val 25000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1733550" y="3333750"/>
            <a:ext cx="449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可以。第一关找水滴，第二关云朵派对，第三关雨滴降落。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8650" y="3962400"/>
            <a:ext cx="400050" cy="400050"/>
          </a:xfrm>
          <a:prstGeom prst="ellipse">
            <a:avLst/>
          </a:prstGeom>
        </p:spPr>
      </p:pic>
      <p:sp>
        <p:nvSpPr>
          <p:cNvPr id="24" name="圆角矩形 23"/>
          <p:cNvSpPr>
            <a:spLocks noGrp="1"/>
          </p:cNvSpPr>
          <p:nvPr/>
        </p:nvSpPr>
        <p:spPr>
          <a:xfrm>
            <a:off x="1123950" y="394335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6E8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矩形 24"/>
          <p:cNvSpPr>
            <a:spLocks noGrp="1"/>
          </p:cNvSpPr>
          <p:nvPr/>
        </p:nvSpPr>
        <p:spPr>
          <a:xfrm>
            <a:off x="1257300" y="40195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C35B00"/>
                </a:solidFill>
              </a:defRPr>
            </a:pPr>
            <a:r>
              <a:rPr sz="1200" b="1">
                <a:solidFill>
                  <a:srgbClr val="C35B00"/>
                </a:solidFill>
              </a:rPr>
              <a:t>小星：</a:t>
            </a:r>
            <a:r>
              <a:rPr sz="1200" b="1">
                <a:solidFill>
                  <a:schemeClr val="tx1"/>
                </a:solidFill>
              </a:rPr>
              <a:t>如果云朵装不下，就变成雨跳下去！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8" name="图片 8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57950" y="4476750"/>
            <a:ext cx="400050" cy="400050"/>
          </a:xfrm>
          <a:prstGeom prst="ellipse">
            <a:avLst/>
          </a:prstGeom>
        </p:spPr>
      </p:pic>
      <p:sp>
        <p:nvSpPr>
          <p:cNvPr id="27" name="圆角矩形 26"/>
          <p:cNvSpPr>
            <a:spLocks noGrp="1"/>
          </p:cNvSpPr>
          <p:nvPr/>
        </p:nvSpPr>
        <p:spPr>
          <a:xfrm>
            <a:off x="1600200" y="4457700"/>
            <a:ext cx="4762500" cy="438150"/>
          </a:xfrm>
          <a:prstGeom prst="roundRect">
            <a:avLst>
              <a:gd name="adj" fmla="val 34783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1733550" y="45339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回答正确，获得“云朵守护者”徽章。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57950" y="4991100"/>
            <a:ext cx="400050" cy="400050"/>
          </a:xfrm>
          <a:prstGeom prst="ellipse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1600200" y="4972050"/>
            <a:ext cx="4762500" cy="438150"/>
          </a:xfrm>
          <a:prstGeom prst="roundRect">
            <a:avLst>
              <a:gd name="adj" fmla="val 34783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1" name="矩形 30"/>
          <p:cNvSpPr>
            <a:spLocks noGrp="1"/>
          </p:cNvSpPr>
          <p:nvPr/>
        </p:nvSpPr>
        <p:spPr>
          <a:xfrm>
            <a:off x="1733550" y="504825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后续会根据答题记录自动优化关卡和提示。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162800" y="1123950"/>
            <a:ext cx="4724400" cy="361950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F2C17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pic>
        <p:nvPicPr>
          <p:cNvPr id="95" name="图片 94"/>
          <p:cNvPicPr>
            <a:picLocks noChangeAspect="1"/>
          </p:cNvPicPr>
          <p:nvPr/>
        </p:nvPicPr>
        <p:blipFill>
          <a:blip r:embed="rId4"/>
          <a:srcRect l="12793" r="12793"/>
          <a:stretch>
            <a:fillRect/>
          </a:stretch>
        </p:blipFill>
        <p:spPr>
          <a:xfrm>
            <a:off x="7258050" y="1219200"/>
            <a:ext cx="4533900" cy="3429000"/>
          </a:xfrm>
          <a:prstGeom prst="roundRect">
            <a:avLst>
              <a:gd name="adj" fmla="val 6667"/>
            </a:avLst>
          </a:prstGeom>
        </p:spPr>
      </p:pic>
      <p:sp>
        <p:nvSpPr>
          <p:cNvPr id="34" name="圆角矩形 33"/>
          <p:cNvSpPr>
            <a:spLocks noGrp="1"/>
          </p:cNvSpPr>
          <p:nvPr/>
        </p:nvSpPr>
        <p:spPr>
          <a:xfrm>
            <a:off x="7258050" y="4876800"/>
            <a:ext cx="4533900" cy="704850"/>
          </a:xfrm>
          <a:prstGeom prst="roundRect">
            <a:avLst>
              <a:gd name="adj" fmla="val 29730"/>
            </a:avLst>
          </a:prstGeom>
          <a:solidFill>
            <a:srgbClr val="FFF7E8"/>
          </a:solidFill>
          <a:ln w="9525">
            <a:solidFill>
              <a:srgbClr val="F0CA8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5" name="矩形 34"/>
          <p:cNvSpPr>
            <a:spLocks noGrp="1"/>
          </p:cNvSpPr>
          <p:nvPr/>
        </p:nvSpPr>
        <p:spPr>
          <a:xfrm>
            <a:off x="7524750" y="50101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47B20"/>
                </a:solidFill>
              </a:defRPr>
            </a:pPr>
            <a:r>
              <a:rPr sz="1200" b="1">
                <a:solidFill>
                  <a:srgbClr val="F47B20"/>
                </a:solidFill>
              </a:rPr>
              <a:t>场景亮点</a:t>
            </a:r>
            <a:endParaRPr sz="1200" b="1">
              <a:solidFill>
                <a:srgbClr val="F47B2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420100" y="5000625"/>
            <a:ext cx="3105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AI主动把故事变成游戏，让知识在反复闯关中被记住。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400050" y="5810250"/>
            <a:ext cx="11391900" cy="742950"/>
          </a:xfrm>
          <a:prstGeom prst="roundRect">
            <a:avLst>
              <a:gd name="adj" fmla="val 35897"/>
            </a:avLst>
          </a:prstGeom>
          <a:solidFill>
            <a:srgbClr val="FFF7E8"/>
          </a:solidFill>
          <a:ln w="9525">
            <a:solidFill>
              <a:srgbClr val="F0C3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8" name="圆角矩形 37"/>
          <p:cNvSpPr>
            <a:spLocks noGrp="1"/>
          </p:cNvSpPr>
          <p:nvPr/>
        </p:nvSpPr>
        <p:spPr>
          <a:xfrm>
            <a:off x="5905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9" name="椭圆 38"/>
          <p:cNvSpPr>
            <a:spLocks noGrp="1"/>
          </p:cNvSpPr>
          <p:nvPr/>
        </p:nvSpPr>
        <p:spPr>
          <a:xfrm>
            <a:off x="685800" y="6010275"/>
            <a:ext cx="342900" cy="342900"/>
          </a:xfrm>
          <a:prstGeom prst="ellipse">
            <a:avLst/>
          </a:prstGeom>
          <a:solidFill>
            <a:srgbClr val="36B37E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858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0858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智能小游戏生成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24574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3" name="椭圆 42"/>
          <p:cNvSpPr>
            <a:spLocks noGrp="1"/>
          </p:cNvSpPr>
          <p:nvPr/>
        </p:nvSpPr>
        <p:spPr>
          <a:xfrm>
            <a:off x="2552700" y="6010275"/>
            <a:ext cx="342900" cy="342900"/>
          </a:xfrm>
          <a:prstGeom prst="ellipse">
            <a:avLst/>
          </a:prstGeom>
          <a:solidFill>
            <a:srgbClr val="F26A36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5527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9527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知识记忆强化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43243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7" name="椭圆 46"/>
          <p:cNvSpPr>
            <a:spLocks noGrp="1"/>
          </p:cNvSpPr>
          <p:nvPr/>
        </p:nvSpPr>
        <p:spPr>
          <a:xfrm>
            <a:off x="4419600" y="6010275"/>
            <a:ext cx="342900" cy="342900"/>
          </a:xfrm>
          <a:prstGeom prst="ellipse">
            <a:avLst/>
          </a:prstGeom>
          <a:solidFill>
            <a:srgbClr val="397CF6"/>
          </a:solidFill>
          <a:ln w="0">
            <a:noFill/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44196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8196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闯关式迁移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1912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1" name="椭圆 50"/>
          <p:cNvSpPr>
            <a:spLocks noGrp="1"/>
          </p:cNvSpPr>
          <p:nvPr/>
        </p:nvSpPr>
        <p:spPr>
          <a:xfrm>
            <a:off x="6286500" y="6010275"/>
            <a:ext cx="342900" cy="342900"/>
          </a:xfrm>
          <a:prstGeom prst="ellipse">
            <a:avLst/>
          </a:prstGeom>
          <a:solidFill>
            <a:srgbClr val="7C5BEF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2865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6865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难度自适应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80581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5" name="椭圆 54"/>
          <p:cNvSpPr>
            <a:spLocks noGrp="1"/>
          </p:cNvSpPr>
          <p:nvPr/>
        </p:nvSpPr>
        <p:spPr>
          <a:xfrm>
            <a:off x="8153400" y="6010275"/>
            <a:ext cx="342900" cy="342900"/>
          </a:xfrm>
          <a:prstGeom prst="ellipse">
            <a:avLst/>
          </a:prstGeom>
          <a:solidFill>
            <a:srgbClr val="28B8A7"/>
          </a:solidFill>
          <a:ln w="0">
            <a:noFill/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1534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5534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兴趣任务推荐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99250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9" name="椭圆 58"/>
          <p:cNvSpPr>
            <a:spLocks noGrp="1"/>
          </p:cNvSpPr>
          <p:nvPr/>
        </p:nvSpPr>
        <p:spPr>
          <a:xfrm>
            <a:off x="10020300" y="6010275"/>
            <a:ext cx="342900" cy="342900"/>
          </a:xfrm>
          <a:prstGeom prst="ellipse">
            <a:avLst/>
          </a:prstGeom>
          <a:solidFill>
            <a:srgbClr val="F2A51C"/>
          </a:solidFill>
          <a:ln w="0">
            <a:noFill/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100203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04203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学玩创闭环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1382375" y="65341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C6A3B"/>
                </a:solidFill>
              </a:defRPr>
            </a:pPr>
            <a:r>
              <a:rPr sz="1200" b="1">
                <a:solidFill>
                  <a:srgbClr val="8C6A3B"/>
                </a:solidFill>
              </a:rPr>
              <a:t>04</a:t>
            </a:r>
            <a:endParaRPr sz="1200" b="1">
              <a:solidFill>
                <a:srgbClr val="8C6A3B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0300" y="428625"/>
            <a:ext cx="266700" cy="2419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1CC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266700"/>
            <a:ext cx="148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F47B20"/>
                </a:solidFill>
              </a:defRPr>
            </a:pPr>
            <a:r>
              <a:rPr sz="2250" b="1">
                <a:solidFill>
                  <a:srgbClr val="F47B20"/>
                </a:solidFill>
              </a:rPr>
              <a:t>童芯智造</a:t>
            </a:r>
            <a:endParaRPr sz="2250" b="1">
              <a:solidFill>
                <a:srgbClr val="F47B2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47675" y="6286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92719"/>
                </a:solidFill>
              </a:defRPr>
            </a:pPr>
            <a:r>
              <a:rPr sz="975" b="1">
                <a:solidFill>
                  <a:srgbClr val="392719"/>
                </a:solidFill>
              </a:rPr>
              <a:t>AI好奇心成长伙伴</a:t>
            </a:r>
            <a:endParaRPr sz="975" b="1">
              <a:solidFill>
                <a:srgbClr val="39271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305050" y="133350"/>
            <a:ext cx="95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F47B20"/>
                </a:solidFill>
              </a:defRPr>
            </a:pPr>
            <a:r>
              <a:rPr sz="3900" b="1">
                <a:solidFill>
                  <a:srgbClr val="F47B20"/>
                </a:solidFill>
              </a:rPr>
              <a:t>05</a:t>
            </a:r>
            <a:endParaRPr sz="3900" b="1">
              <a:solidFill>
                <a:srgbClr val="F47B2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276600" y="295275"/>
            <a:ext cx="6362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392719"/>
                </a:solidFill>
              </a:defRPr>
            </a:pPr>
            <a:r>
              <a:rPr sz="2475" b="1">
                <a:solidFill>
                  <a:srgbClr val="392719"/>
                </a:solidFill>
              </a:rPr>
              <a:t>家长理念注入：把单一路线扩展成系统闭环</a:t>
            </a:r>
            <a:endParaRPr sz="2475" b="1">
              <a:solidFill>
                <a:srgbClr val="392719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295650" y="762000"/>
            <a:ext cx="676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7B5B3B"/>
                </a:solidFill>
              </a:defRPr>
            </a:pPr>
            <a:r>
              <a:rPr sz="1350">
                <a:solidFill>
                  <a:srgbClr val="7B5B3B"/>
                </a:solidFill>
              </a:rPr>
              <a:t>家长提出教育目标，AI即时改善故事、绘本和游戏任务</a:t>
            </a:r>
            <a:endParaRPr sz="1350">
              <a:solidFill>
                <a:srgbClr val="7B5B3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867900" y="323850"/>
            <a:ext cx="1885950" cy="41910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 w="9525">
            <a:solidFill>
              <a:srgbClr val="F2C17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10096500" y="428625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47B20"/>
                </a:solidFill>
              </a:defRPr>
            </a:pPr>
            <a:r>
              <a:rPr sz="1275" b="1">
                <a:solidFill>
                  <a:srgbClr val="F47B20"/>
                </a:solidFill>
              </a:rPr>
              <a:t>理念共创时刻</a:t>
            </a:r>
            <a:endParaRPr sz="1275" b="1">
              <a:solidFill>
                <a:srgbClr val="F47B20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00050" y="1219200"/>
            <a:ext cx="6648450" cy="4362450"/>
          </a:xfrm>
          <a:prstGeom prst="roundRect">
            <a:avLst>
              <a:gd name="adj" fmla="val 6114"/>
            </a:avLst>
          </a:prstGeom>
          <a:solidFill>
            <a:srgbClr val="FFFDF7">
              <a:alpha val="94000"/>
            </a:srgbClr>
          </a:solidFill>
          <a:ln w="9525">
            <a:solidFill>
              <a:srgbClr val="F0CA8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13716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5F4124"/>
                </a:solidFill>
              </a:defRPr>
            </a:pPr>
            <a:r>
              <a:rPr lang="zh-CN" sz="1200" b="1">
                <a:solidFill>
                  <a:srgbClr val="5F4124"/>
                </a:solidFill>
                <a:ea typeface="宋体" panose="02010600030101010101" pitchFamily="2" charset="-122"/>
              </a:rPr>
              <a:t>会话</a:t>
            </a:r>
            <a:r>
              <a:rPr lang="en-US" altLang="zh-CN" sz="1200" b="1">
                <a:solidFill>
                  <a:srgbClr val="5F4124"/>
                </a:solidFill>
                <a:ea typeface="宋体" panose="02010600030101010101" pitchFamily="2" charset="-122"/>
              </a:rPr>
              <a:t>5</a:t>
            </a:r>
            <a:r>
              <a:rPr sz="1200" b="1">
                <a:solidFill>
                  <a:srgbClr val="5F4124"/>
                </a:solidFill>
              </a:rPr>
              <a:t>· 小星的水循环探索</a:t>
            </a:r>
            <a:endParaRPr sz="1200" b="1">
              <a:solidFill>
                <a:srgbClr val="5F4124"/>
              </a:solidFill>
            </a:endParaRPr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8650" y="1733550"/>
            <a:ext cx="400050" cy="400050"/>
          </a:xfrm>
          <a:prstGeom prst="ellipse">
            <a:avLst/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1123950" y="171450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1DE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1257300" y="17907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A86116"/>
                </a:solidFill>
              </a:defRPr>
            </a:pPr>
            <a:r>
              <a:rPr sz="1200" b="1">
                <a:solidFill>
                  <a:srgbClr val="A86116"/>
                </a:solidFill>
              </a:rPr>
              <a:t>妈妈：</a:t>
            </a:r>
            <a:r>
              <a:rPr sz="1200" b="1">
                <a:solidFill>
                  <a:schemeClr val="tx1"/>
                </a:solidFill>
              </a:rPr>
              <a:t>我希望她知道，雨滴落地后不只有一种结局。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8650" y="2247900"/>
            <a:ext cx="400050" cy="400050"/>
          </a:xfrm>
          <a:prstGeom prst="ellipse">
            <a:avLst/>
          </a:prstGeom>
        </p:spPr>
      </p:pic>
      <p:sp>
        <p:nvSpPr>
          <p:cNvPr id="15" name="圆角矩形 14"/>
          <p:cNvSpPr>
            <a:spLocks noGrp="1"/>
          </p:cNvSpPr>
          <p:nvPr/>
        </p:nvSpPr>
        <p:spPr>
          <a:xfrm>
            <a:off x="1123950" y="222885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1DE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1257300" y="23050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A86116"/>
                </a:solidFill>
              </a:defRPr>
            </a:pPr>
            <a:r>
              <a:rPr sz="1200" b="1">
                <a:solidFill>
                  <a:srgbClr val="A86116"/>
                </a:solidFill>
              </a:rPr>
              <a:t>妈妈：</a:t>
            </a:r>
            <a:r>
              <a:rPr sz="1200" b="1">
                <a:solidFill>
                  <a:schemeClr val="tx1"/>
                </a:solidFill>
              </a:rPr>
              <a:t>它可能汇入地下水、河流，也可能被植物吸收。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57950" y="2762250"/>
            <a:ext cx="400050" cy="400050"/>
          </a:xfrm>
          <a:prstGeom prst="ellipse">
            <a:avLst/>
          </a:prstGeom>
        </p:spPr>
      </p:pic>
      <p:sp>
        <p:nvSpPr>
          <p:cNvPr id="18" name="圆角矩形 17"/>
          <p:cNvSpPr>
            <a:spLocks noGrp="1"/>
          </p:cNvSpPr>
          <p:nvPr/>
        </p:nvSpPr>
        <p:spPr>
          <a:xfrm>
            <a:off x="1600200" y="2743200"/>
            <a:ext cx="4762500" cy="438150"/>
          </a:xfrm>
          <a:prstGeom prst="roundRect">
            <a:avLst>
              <a:gd name="adj" fmla="val 34783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1733550" y="28194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收到。我会把滴滴的旅程扩展成多条支线。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8650" y="3276600"/>
            <a:ext cx="400050" cy="400050"/>
          </a:xfrm>
          <a:prstGeom prst="ellipse">
            <a:avLst/>
          </a:prstGeom>
        </p:spPr>
      </p:pic>
      <p:sp>
        <p:nvSpPr>
          <p:cNvPr id="21" name="圆角矩形 20"/>
          <p:cNvSpPr>
            <a:spLocks noGrp="1"/>
          </p:cNvSpPr>
          <p:nvPr/>
        </p:nvSpPr>
        <p:spPr>
          <a:xfrm>
            <a:off x="1123950" y="325755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6E8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1257300" y="33337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C35B00"/>
                </a:solidFill>
              </a:defRPr>
            </a:pPr>
            <a:r>
              <a:rPr sz="1200" b="1">
                <a:solidFill>
                  <a:srgbClr val="C35B00"/>
                </a:solidFill>
              </a:rPr>
              <a:t>小星：</a:t>
            </a:r>
            <a:r>
              <a:rPr sz="1200" b="1">
                <a:solidFill>
                  <a:schemeClr val="tx1"/>
                </a:solidFill>
              </a:rPr>
              <a:t>滴滴可以坐河流小船去大海吗？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57950" y="3790950"/>
            <a:ext cx="400050" cy="400050"/>
          </a:xfrm>
          <a:prstGeom prst="ellipse">
            <a:avLst/>
          </a:prstGeom>
        </p:spPr>
      </p:pic>
      <p:sp>
        <p:nvSpPr>
          <p:cNvPr id="24" name="圆角矩形 23"/>
          <p:cNvSpPr>
            <a:spLocks noGrp="1"/>
          </p:cNvSpPr>
          <p:nvPr/>
        </p:nvSpPr>
        <p:spPr>
          <a:xfrm>
            <a:off x="1600200" y="3771900"/>
            <a:ext cx="4762500" cy="438150"/>
          </a:xfrm>
          <a:prstGeom prst="roundRect">
            <a:avLst>
              <a:gd name="adj" fmla="val 34783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矩形 24"/>
          <p:cNvSpPr>
            <a:spLocks noGrp="1"/>
          </p:cNvSpPr>
          <p:nvPr/>
        </p:nvSpPr>
        <p:spPr>
          <a:xfrm>
            <a:off x="1733550" y="38481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可以，还会遇到植物朋友和地下水隧道。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8" name="图片 8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8650" y="4305300"/>
            <a:ext cx="400050" cy="400050"/>
          </a:xfrm>
          <a:prstGeom prst="ellipse">
            <a:avLst/>
          </a:prstGeom>
        </p:spPr>
      </p:pic>
      <p:sp>
        <p:nvSpPr>
          <p:cNvPr id="27" name="圆角矩形 26"/>
          <p:cNvSpPr>
            <a:spLocks noGrp="1"/>
          </p:cNvSpPr>
          <p:nvPr/>
        </p:nvSpPr>
        <p:spPr>
          <a:xfrm>
            <a:off x="1123950" y="428625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1DE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1257300" y="43624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A86116"/>
                </a:solidFill>
              </a:defRPr>
            </a:pPr>
            <a:r>
              <a:rPr sz="1200" b="1">
                <a:solidFill>
                  <a:srgbClr val="A86116"/>
                </a:solidFill>
              </a:rPr>
              <a:t>妈妈：</a:t>
            </a:r>
            <a:r>
              <a:rPr sz="1200" b="1">
                <a:solidFill>
                  <a:schemeClr val="tx1"/>
                </a:solidFill>
              </a:rPr>
              <a:t>最后要回到天空，形成完整闭环。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57950" y="4819650"/>
            <a:ext cx="400050" cy="400050"/>
          </a:xfrm>
          <a:prstGeom prst="ellipse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1600200" y="4800600"/>
            <a:ext cx="4762500" cy="609600"/>
          </a:xfrm>
          <a:prstGeom prst="roundRect">
            <a:avLst>
              <a:gd name="adj" fmla="val 25000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1" name="矩形 30"/>
          <p:cNvSpPr>
            <a:spLocks noGrp="1"/>
          </p:cNvSpPr>
          <p:nvPr/>
        </p:nvSpPr>
        <p:spPr>
          <a:xfrm>
            <a:off x="1733550" y="4876800"/>
            <a:ext cx="449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已更新绘本结尾和游戏任务，强化“循环”的理解。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162800" y="1123950"/>
            <a:ext cx="4724400" cy="361950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F2C17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pic>
        <p:nvPicPr>
          <p:cNvPr id="95" name="图片 94"/>
          <p:cNvPicPr>
            <a:picLocks noChangeAspect="1"/>
          </p:cNvPicPr>
          <p:nvPr/>
        </p:nvPicPr>
        <p:blipFill>
          <a:blip r:embed="rId4"/>
          <a:srcRect l="12793" r="12793"/>
          <a:stretch>
            <a:fillRect/>
          </a:stretch>
        </p:blipFill>
        <p:spPr>
          <a:xfrm>
            <a:off x="7258050" y="1219200"/>
            <a:ext cx="4533900" cy="3429000"/>
          </a:xfrm>
          <a:prstGeom prst="roundRect">
            <a:avLst>
              <a:gd name="adj" fmla="val 6667"/>
            </a:avLst>
          </a:prstGeom>
        </p:spPr>
      </p:pic>
      <p:sp>
        <p:nvSpPr>
          <p:cNvPr id="34" name="圆角矩形 33"/>
          <p:cNvSpPr>
            <a:spLocks noGrp="1"/>
          </p:cNvSpPr>
          <p:nvPr/>
        </p:nvSpPr>
        <p:spPr>
          <a:xfrm>
            <a:off x="7258050" y="4876800"/>
            <a:ext cx="4533900" cy="704850"/>
          </a:xfrm>
          <a:prstGeom prst="roundRect">
            <a:avLst>
              <a:gd name="adj" fmla="val 29730"/>
            </a:avLst>
          </a:prstGeom>
          <a:solidFill>
            <a:srgbClr val="FFF7E8"/>
          </a:solidFill>
          <a:ln w="9525">
            <a:solidFill>
              <a:srgbClr val="F0CA8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5" name="矩形 34"/>
          <p:cNvSpPr>
            <a:spLocks noGrp="1"/>
          </p:cNvSpPr>
          <p:nvPr/>
        </p:nvSpPr>
        <p:spPr>
          <a:xfrm>
            <a:off x="7524750" y="50101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47B20"/>
                </a:solidFill>
              </a:defRPr>
            </a:pPr>
            <a:r>
              <a:rPr sz="1200" b="1">
                <a:solidFill>
                  <a:srgbClr val="F47B20"/>
                </a:solidFill>
              </a:rPr>
              <a:t>场景亮点</a:t>
            </a:r>
            <a:endParaRPr sz="1200" b="1">
              <a:solidFill>
                <a:srgbClr val="F47B2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420100" y="5000625"/>
            <a:ext cx="3105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家长把教育理念输入系统，AI把它转化为可体验的支线任务。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400050" y="5810250"/>
            <a:ext cx="11391900" cy="742950"/>
          </a:xfrm>
          <a:prstGeom prst="roundRect">
            <a:avLst>
              <a:gd name="adj" fmla="val 35897"/>
            </a:avLst>
          </a:prstGeom>
          <a:solidFill>
            <a:srgbClr val="FFF7E8"/>
          </a:solidFill>
          <a:ln w="9525">
            <a:solidFill>
              <a:srgbClr val="F0C3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8" name="圆角矩形 37"/>
          <p:cNvSpPr>
            <a:spLocks noGrp="1"/>
          </p:cNvSpPr>
          <p:nvPr/>
        </p:nvSpPr>
        <p:spPr>
          <a:xfrm>
            <a:off x="5905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9" name="椭圆 38"/>
          <p:cNvSpPr>
            <a:spLocks noGrp="1"/>
          </p:cNvSpPr>
          <p:nvPr/>
        </p:nvSpPr>
        <p:spPr>
          <a:xfrm>
            <a:off x="685800" y="6010275"/>
            <a:ext cx="342900" cy="342900"/>
          </a:xfrm>
          <a:prstGeom prst="ellipse">
            <a:avLst/>
          </a:prstGeom>
          <a:solidFill>
            <a:srgbClr val="36B37E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858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0858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家长理念注入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24574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3" name="椭圆 42"/>
          <p:cNvSpPr>
            <a:spLocks noGrp="1"/>
          </p:cNvSpPr>
          <p:nvPr/>
        </p:nvSpPr>
        <p:spPr>
          <a:xfrm>
            <a:off x="2552700" y="6010275"/>
            <a:ext cx="342900" cy="342900"/>
          </a:xfrm>
          <a:prstGeom prst="ellipse">
            <a:avLst/>
          </a:prstGeom>
          <a:solidFill>
            <a:srgbClr val="F26A36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5527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9527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内容二次生成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43243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7" name="椭圆 46"/>
          <p:cNvSpPr>
            <a:spLocks noGrp="1"/>
          </p:cNvSpPr>
          <p:nvPr/>
        </p:nvSpPr>
        <p:spPr>
          <a:xfrm>
            <a:off x="4419600" y="6010275"/>
            <a:ext cx="342900" cy="342900"/>
          </a:xfrm>
          <a:prstGeom prst="ellipse">
            <a:avLst/>
          </a:prstGeom>
          <a:solidFill>
            <a:srgbClr val="397CF6"/>
          </a:solidFill>
          <a:ln w="0">
            <a:noFill/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44196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8196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知识图谱补全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1912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1" name="椭圆 50"/>
          <p:cNvSpPr>
            <a:spLocks noGrp="1"/>
          </p:cNvSpPr>
          <p:nvPr/>
        </p:nvSpPr>
        <p:spPr>
          <a:xfrm>
            <a:off x="6286500" y="6010275"/>
            <a:ext cx="342900" cy="342900"/>
          </a:xfrm>
          <a:prstGeom prst="ellipse">
            <a:avLst/>
          </a:prstGeom>
          <a:solidFill>
            <a:srgbClr val="7C5BEF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2865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6865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个性化路径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80581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5" name="椭圆 54"/>
          <p:cNvSpPr>
            <a:spLocks noGrp="1"/>
          </p:cNvSpPr>
          <p:nvPr/>
        </p:nvSpPr>
        <p:spPr>
          <a:xfrm>
            <a:off x="8153400" y="6010275"/>
            <a:ext cx="342900" cy="342900"/>
          </a:xfrm>
          <a:prstGeom prst="ellipse">
            <a:avLst/>
          </a:prstGeom>
          <a:solidFill>
            <a:srgbClr val="28B8A7"/>
          </a:solidFill>
          <a:ln w="0">
            <a:noFill/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1534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5534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家长端协同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99250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9" name="椭圆 58"/>
          <p:cNvSpPr>
            <a:spLocks noGrp="1"/>
          </p:cNvSpPr>
          <p:nvPr/>
        </p:nvSpPr>
        <p:spPr>
          <a:xfrm>
            <a:off x="10020300" y="6010275"/>
            <a:ext cx="342900" cy="342900"/>
          </a:xfrm>
          <a:prstGeom prst="ellipse">
            <a:avLst/>
          </a:prstGeom>
          <a:solidFill>
            <a:srgbClr val="F2A51C"/>
          </a:solidFill>
          <a:ln w="0">
            <a:noFill/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100203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04203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闭环认知强化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1382375" y="65341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C6A3B"/>
                </a:solidFill>
              </a:defRPr>
            </a:pPr>
            <a:r>
              <a:rPr sz="1200" b="1">
                <a:solidFill>
                  <a:srgbClr val="8C6A3B"/>
                </a:solidFill>
              </a:rPr>
              <a:t>05</a:t>
            </a:r>
            <a:endParaRPr sz="1200" b="1">
              <a:solidFill>
                <a:srgbClr val="8C6A3B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0300" y="400050"/>
            <a:ext cx="2413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1CC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266700"/>
            <a:ext cx="148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F47B20"/>
                </a:solidFill>
              </a:defRPr>
            </a:pPr>
            <a:r>
              <a:rPr sz="2250" b="1">
                <a:solidFill>
                  <a:srgbClr val="F47B20"/>
                </a:solidFill>
              </a:rPr>
              <a:t>童芯智造</a:t>
            </a:r>
            <a:endParaRPr sz="2250" b="1">
              <a:solidFill>
                <a:srgbClr val="F47B2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47675" y="6286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92719"/>
                </a:solidFill>
              </a:defRPr>
            </a:pPr>
            <a:r>
              <a:rPr sz="975" b="1">
                <a:solidFill>
                  <a:srgbClr val="392719"/>
                </a:solidFill>
              </a:rPr>
              <a:t>AI好奇心成长伙伴</a:t>
            </a:r>
            <a:endParaRPr sz="975" b="1">
              <a:solidFill>
                <a:srgbClr val="392719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305050" y="133350"/>
            <a:ext cx="95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F47B20"/>
                </a:solidFill>
              </a:defRPr>
            </a:pPr>
            <a:r>
              <a:rPr sz="3900" b="1">
                <a:solidFill>
                  <a:srgbClr val="F47B20"/>
                </a:solidFill>
              </a:rPr>
              <a:t>06</a:t>
            </a:r>
            <a:endParaRPr sz="3900" b="1">
              <a:solidFill>
                <a:srgbClr val="F47B2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276600" y="295275"/>
            <a:ext cx="6362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75" b="1">
                <a:solidFill>
                  <a:srgbClr val="392719"/>
                </a:solidFill>
              </a:defRPr>
            </a:pPr>
            <a:r>
              <a:rPr sz="2475" b="1">
                <a:solidFill>
                  <a:srgbClr val="392719"/>
                </a:solidFill>
              </a:rPr>
              <a:t>成长轨迹报告：从一次好奇到可追踪成长</a:t>
            </a:r>
            <a:endParaRPr sz="2475" b="1">
              <a:solidFill>
                <a:srgbClr val="392719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295650" y="762000"/>
            <a:ext cx="676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7B5B3B"/>
                </a:solidFill>
              </a:defRPr>
            </a:pPr>
            <a:r>
              <a:rPr sz="1350">
                <a:solidFill>
                  <a:srgbClr val="7B5B3B"/>
                </a:solidFill>
              </a:rPr>
              <a:t>一周后，AI自动生成成长报告，帮助家长看见真实变化</a:t>
            </a:r>
            <a:endParaRPr sz="1350">
              <a:solidFill>
                <a:srgbClr val="7B5B3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867900" y="323850"/>
            <a:ext cx="1885950" cy="41910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 w="9525">
            <a:solidFill>
              <a:srgbClr val="F2C17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10096500" y="428625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47B20"/>
                </a:solidFill>
              </a:defRPr>
            </a:pPr>
            <a:r>
              <a:rPr sz="1275" b="1">
                <a:solidFill>
                  <a:srgbClr val="F47B20"/>
                </a:solidFill>
              </a:rPr>
              <a:t>一周后 · 成长报告</a:t>
            </a:r>
            <a:endParaRPr sz="1275" b="1">
              <a:solidFill>
                <a:srgbClr val="F47B20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00050" y="1219200"/>
            <a:ext cx="6648450" cy="4362450"/>
          </a:xfrm>
          <a:prstGeom prst="roundRect">
            <a:avLst>
              <a:gd name="adj" fmla="val 6114"/>
            </a:avLst>
          </a:prstGeom>
          <a:solidFill>
            <a:srgbClr val="FFFDF7">
              <a:alpha val="94000"/>
            </a:srgbClr>
          </a:solidFill>
          <a:ln w="9525">
            <a:solidFill>
              <a:srgbClr val="F0CA8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57950" y="1733550"/>
            <a:ext cx="400050" cy="400050"/>
          </a:xfrm>
          <a:prstGeom prst="ellipse">
            <a:avLst/>
          </a:prstGeom>
        </p:spPr>
      </p:pic>
      <p:sp>
        <p:nvSpPr>
          <p:cNvPr id="12" name="圆角矩形 11"/>
          <p:cNvSpPr>
            <a:spLocks noGrp="1"/>
          </p:cNvSpPr>
          <p:nvPr/>
        </p:nvSpPr>
        <p:spPr>
          <a:xfrm>
            <a:off x="1600200" y="1714500"/>
            <a:ext cx="4762500" cy="438150"/>
          </a:xfrm>
          <a:prstGeom prst="roundRect">
            <a:avLst>
              <a:gd name="adj" fmla="val 34783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1733550" y="1790700"/>
            <a:ext cx="449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小星本周成长报告已更新，是否投屏查看？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77" name="图片 7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8650" y="2247900"/>
            <a:ext cx="400050" cy="400050"/>
          </a:xfrm>
          <a:prstGeom prst="ellipse">
            <a:avLst/>
          </a:prstGeom>
        </p:spPr>
      </p:pic>
      <p:sp>
        <p:nvSpPr>
          <p:cNvPr id="15" name="圆角矩形 14"/>
          <p:cNvSpPr>
            <a:spLocks noGrp="1"/>
          </p:cNvSpPr>
          <p:nvPr/>
        </p:nvSpPr>
        <p:spPr>
          <a:xfrm>
            <a:off x="1123950" y="222885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1DE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1257300" y="23050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A86116"/>
                </a:solidFill>
              </a:defRPr>
            </a:pPr>
            <a:r>
              <a:rPr sz="1200" b="1">
                <a:solidFill>
                  <a:srgbClr val="A86116"/>
                </a:solidFill>
              </a:rPr>
              <a:t>妈妈：</a:t>
            </a:r>
            <a:r>
              <a:rPr sz="1200" b="1">
                <a:solidFill>
                  <a:schemeClr val="tx1"/>
                </a:solidFill>
              </a:rPr>
              <a:t>打开看看，她从水循环里学到了什么。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0" name="图片 7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57950" y="2762250"/>
            <a:ext cx="400050" cy="400050"/>
          </a:xfrm>
          <a:prstGeom prst="ellipse">
            <a:avLst/>
          </a:prstGeom>
        </p:spPr>
      </p:pic>
      <p:sp>
        <p:nvSpPr>
          <p:cNvPr id="18" name="圆角矩形 17"/>
          <p:cNvSpPr>
            <a:spLocks noGrp="1"/>
          </p:cNvSpPr>
          <p:nvPr/>
        </p:nvSpPr>
        <p:spPr>
          <a:xfrm>
            <a:off x="1600200" y="2743200"/>
            <a:ext cx="4762500" cy="609600"/>
          </a:xfrm>
          <a:prstGeom prst="roundRect">
            <a:avLst>
              <a:gd name="adj" fmla="val 25000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1733550" y="2819400"/>
            <a:ext cx="449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本周对话28次，拍学探索3次，绘本1本，小游戏完成4关。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8650" y="3448050"/>
            <a:ext cx="400050" cy="400050"/>
          </a:xfrm>
          <a:prstGeom prst="ellipse">
            <a:avLst/>
          </a:prstGeom>
        </p:spPr>
      </p:pic>
      <p:sp>
        <p:nvSpPr>
          <p:cNvPr id="21" name="圆角矩形 20"/>
          <p:cNvSpPr>
            <a:spLocks noGrp="1"/>
          </p:cNvSpPr>
          <p:nvPr/>
        </p:nvSpPr>
        <p:spPr>
          <a:xfrm>
            <a:off x="1123950" y="342900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6E8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1257300" y="35052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C35B00"/>
                </a:solidFill>
              </a:defRPr>
            </a:pPr>
            <a:r>
              <a:rPr sz="1200" b="1">
                <a:solidFill>
                  <a:srgbClr val="C35B00"/>
                </a:solidFill>
              </a:rPr>
              <a:t>小星：</a:t>
            </a:r>
            <a:r>
              <a:rPr sz="1200" b="1">
                <a:solidFill>
                  <a:schemeClr val="tx1"/>
                </a:solidFill>
              </a:rPr>
              <a:t>妈妈你看，那是我的滴滴！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57950" y="3962400"/>
            <a:ext cx="400050" cy="400050"/>
          </a:xfrm>
          <a:prstGeom prst="ellipse">
            <a:avLst/>
          </a:prstGeom>
        </p:spPr>
      </p:pic>
      <p:sp>
        <p:nvSpPr>
          <p:cNvPr id="24" name="圆角矩形 23"/>
          <p:cNvSpPr>
            <a:spLocks noGrp="1"/>
          </p:cNvSpPr>
          <p:nvPr/>
        </p:nvSpPr>
        <p:spPr>
          <a:xfrm>
            <a:off x="1600200" y="3943350"/>
            <a:ext cx="4762500" cy="609600"/>
          </a:xfrm>
          <a:prstGeom prst="roundRect">
            <a:avLst>
              <a:gd name="adj" fmla="val 25000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矩形 24"/>
          <p:cNvSpPr>
            <a:spLocks noGrp="1"/>
          </p:cNvSpPr>
          <p:nvPr/>
        </p:nvSpPr>
        <p:spPr>
          <a:xfrm>
            <a:off x="1733550" y="4019550"/>
            <a:ext cx="449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她已能用“先、然后、最后”复述水循环，并主动联想到植物和河流。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8650" y="4648200"/>
            <a:ext cx="400050" cy="400050"/>
          </a:xfrm>
          <a:prstGeom prst="ellipse">
            <a:avLst/>
          </a:prstGeom>
        </p:spPr>
      </p:pic>
      <p:sp>
        <p:nvSpPr>
          <p:cNvPr id="27" name="圆角矩形 26"/>
          <p:cNvSpPr>
            <a:spLocks noGrp="1"/>
          </p:cNvSpPr>
          <p:nvPr/>
        </p:nvSpPr>
        <p:spPr>
          <a:xfrm>
            <a:off x="1123950" y="4629150"/>
            <a:ext cx="4838700" cy="438150"/>
          </a:xfrm>
          <a:prstGeom prst="roundRect">
            <a:avLst>
              <a:gd name="adj" fmla="val 34783"/>
            </a:avLst>
          </a:prstGeom>
          <a:solidFill>
            <a:srgbClr val="FFF1DE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1257300" y="47053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A86116"/>
                </a:solidFill>
              </a:defRPr>
            </a:pPr>
            <a:r>
              <a:rPr sz="1200" b="1">
                <a:solidFill>
                  <a:srgbClr val="A86116"/>
                </a:solidFill>
              </a:rPr>
              <a:t>妈妈：</a:t>
            </a:r>
            <a:r>
              <a:rPr sz="1200" b="1">
                <a:solidFill>
                  <a:schemeClr val="tx1"/>
                </a:solidFill>
              </a:rPr>
              <a:t>下周可以继续做什么？</a:t>
            </a:r>
            <a:endParaRPr sz="1200" b="1">
              <a:solidFill>
                <a:schemeClr val="tx1"/>
              </a:solidFill>
            </a:endParaRPr>
          </a:p>
        </p:txBody>
      </p:sp>
      <p:pic>
        <p:nvPicPr>
          <p:cNvPr id="92" name="图片 9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57950" y="5162550"/>
            <a:ext cx="400050" cy="400050"/>
          </a:xfrm>
          <a:prstGeom prst="ellipse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1600200" y="5143500"/>
            <a:ext cx="4762500" cy="609600"/>
          </a:xfrm>
          <a:prstGeom prst="roundRect">
            <a:avLst>
              <a:gd name="adj" fmla="val 25000"/>
            </a:avLst>
          </a:prstGeom>
          <a:solidFill>
            <a:srgbClr val="EAF8DF"/>
          </a:solidFill>
          <a:ln w="9525">
            <a:solidFill>
              <a:srgbClr val="F3D8A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1" name="矩形 30"/>
          <p:cNvSpPr>
            <a:spLocks noGrp="1"/>
          </p:cNvSpPr>
          <p:nvPr/>
        </p:nvSpPr>
        <p:spPr>
          <a:xfrm>
            <a:off x="1733550" y="5219700"/>
            <a:ext cx="449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238148"/>
                </a:solidFill>
              </a:defRPr>
            </a:pPr>
            <a:r>
              <a:rPr sz="1200" b="1">
                <a:solidFill>
                  <a:srgbClr val="238148"/>
                </a:solidFill>
              </a:rPr>
              <a:t>好奇星伴：</a:t>
            </a:r>
            <a:r>
              <a:rPr sz="1200" b="1">
                <a:solidFill>
                  <a:schemeClr val="tx1"/>
                </a:solidFill>
              </a:rPr>
              <a:t>推荐“光和影子”主题；回答风格和游戏Skill会根据历史反馈持续改进。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162800" y="1123950"/>
            <a:ext cx="4724400" cy="361950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F2C17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4"/>
          <a:srcRect l="12793" r="12793"/>
          <a:stretch>
            <a:fillRect/>
          </a:stretch>
        </p:blipFill>
        <p:spPr>
          <a:xfrm>
            <a:off x="7258050" y="1219200"/>
            <a:ext cx="4533900" cy="3429000"/>
          </a:xfrm>
          <a:prstGeom prst="roundRect">
            <a:avLst>
              <a:gd name="adj" fmla="val 6667"/>
            </a:avLst>
          </a:prstGeom>
        </p:spPr>
      </p:pic>
      <p:sp>
        <p:nvSpPr>
          <p:cNvPr id="34" name="圆角矩形 33"/>
          <p:cNvSpPr>
            <a:spLocks noGrp="1"/>
          </p:cNvSpPr>
          <p:nvPr/>
        </p:nvSpPr>
        <p:spPr>
          <a:xfrm>
            <a:off x="7258050" y="4876800"/>
            <a:ext cx="4533900" cy="704850"/>
          </a:xfrm>
          <a:prstGeom prst="roundRect">
            <a:avLst>
              <a:gd name="adj" fmla="val 29730"/>
            </a:avLst>
          </a:prstGeom>
          <a:solidFill>
            <a:srgbClr val="FFF7E8"/>
          </a:solidFill>
          <a:ln w="9525">
            <a:solidFill>
              <a:srgbClr val="F0CA8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5" name="矩形 34"/>
          <p:cNvSpPr>
            <a:spLocks noGrp="1"/>
          </p:cNvSpPr>
          <p:nvPr/>
        </p:nvSpPr>
        <p:spPr>
          <a:xfrm>
            <a:off x="7524750" y="50101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F47B20"/>
                </a:solidFill>
              </a:defRPr>
            </a:pPr>
            <a:r>
              <a:rPr sz="1200" b="1">
                <a:solidFill>
                  <a:srgbClr val="F47B20"/>
                </a:solidFill>
              </a:rPr>
              <a:t>场景亮点</a:t>
            </a:r>
            <a:endParaRPr sz="1200" b="1">
              <a:solidFill>
                <a:srgbClr val="F47B2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420100" y="5000625"/>
            <a:ext cx="3105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自进化：回答风格更贴合习惯，绘本/游戏Skill持续改进。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400050" y="5810250"/>
            <a:ext cx="11391900" cy="742950"/>
          </a:xfrm>
          <a:prstGeom prst="roundRect">
            <a:avLst>
              <a:gd name="adj" fmla="val 35897"/>
            </a:avLst>
          </a:prstGeom>
          <a:solidFill>
            <a:srgbClr val="FFF7E8"/>
          </a:solidFill>
          <a:ln w="9525">
            <a:solidFill>
              <a:srgbClr val="F0C36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8" name="圆角矩形 37"/>
          <p:cNvSpPr>
            <a:spLocks noGrp="1"/>
          </p:cNvSpPr>
          <p:nvPr/>
        </p:nvSpPr>
        <p:spPr>
          <a:xfrm>
            <a:off x="5905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9" name="椭圆 38"/>
          <p:cNvSpPr>
            <a:spLocks noGrp="1"/>
          </p:cNvSpPr>
          <p:nvPr/>
        </p:nvSpPr>
        <p:spPr>
          <a:xfrm>
            <a:off x="685800" y="6010275"/>
            <a:ext cx="342900" cy="342900"/>
          </a:xfrm>
          <a:prstGeom prst="ellipse">
            <a:avLst/>
          </a:prstGeom>
          <a:solidFill>
            <a:srgbClr val="36B37E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858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0858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成长轨迹报告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24574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3" name="椭圆 42"/>
          <p:cNvSpPr>
            <a:spLocks noGrp="1"/>
          </p:cNvSpPr>
          <p:nvPr/>
        </p:nvSpPr>
        <p:spPr>
          <a:xfrm>
            <a:off x="2552700" y="6010275"/>
            <a:ext cx="342900" cy="342900"/>
          </a:xfrm>
          <a:prstGeom prst="ellipse">
            <a:avLst/>
          </a:prstGeom>
          <a:solidFill>
            <a:srgbClr val="F26A36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5527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9527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能力雷达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43243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7" name="椭圆 46"/>
          <p:cNvSpPr>
            <a:spLocks noGrp="1"/>
          </p:cNvSpPr>
          <p:nvPr/>
        </p:nvSpPr>
        <p:spPr>
          <a:xfrm>
            <a:off x="4419600" y="6010275"/>
            <a:ext cx="342900" cy="342900"/>
          </a:xfrm>
          <a:prstGeom prst="ellipse">
            <a:avLst/>
          </a:prstGeom>
          <a:solidFill>
            <a:srgbClr val="397CF6"/>
          </a:solidFill>
          <a:ln w="0">
            <a:noFill/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44196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8196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兴趣档案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1912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1" name="椭圆 50"/>
          <p:cNvSpPr>
            <a:spLocks noGrp="1"/>
          </p:cNvSpPr>
          <p:nvPr/>
        </p:nvSpPr>
        <p:spPr>
          <a:xfrm>
            <a:off x="6286500" y="6010275"/>
            <a:ext cx="342900" cy="342900"/>
          </a:xfrm>
          <a:prstGeom prst="ellipse">
            <a:avLst/>
          </a:prstGeom>
          <a:solidFill>
            <a:srgbClr val="7C5BEF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2865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6865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个性化建议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80581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5" name="椭圆 54"/>
          <p:cNvSpPr>
            <a:spLocks noGrp="1"/>
          </p:cNvSpPr>
          <p:nvPr/>
        </p:nvSpPr>
        <p:spPr>
          <a:xfrm>
            <a:off x="8153400" y="6010275"/>
            <a:ext cx="342900" cy="342900"/>
          </a:xfrm>
          <a:prstGeom prst="ellipse">
            <a:avLst/>
          </a:prstGeom>
          <a:solidFill>
            <a:srgbClr val="28B8A7"/>
          </a:solidFill>
          <a:ln w="0">
            <a:noFill/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1534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85534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92719"/>
                </a:solidFill>
              </a:defRPr>
            </a:pPr>
            <a:r>
              <a:rPr sz="1200" b="1">
                <a:solidFill>
                  <a:srgbClr val="392719"/>
                </a:solidFill>
              </a:rPr>
              <a:t>家长端联动</a:t>
            </a:r>
            <a:endParaRPr sz="1200" b="1">
              <a:solidFill>
                <a:srgbClr val="392719"/>
              </a:solidFill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9925050" y="5934075"/>
            <a:ext cx="1752600" cy="495300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 w="9525">
            <a:solidFill>
              <a:srgbClr val="F1D49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9" name="椭圆 58"/>
          <p:cNvSpPr>
            <a:spLocks noGrp="1"/>
          </p:cNvSpPr>
          <p:nvPr/>
        </p:nvSpPr>
        <p:spPr>
          <a:xfrm>
            <a:off x="10020300" y="6010275"/>
            <a:ext cx="342900" cy="342900"/>
          </a:xfrm>
          <a:prstGeom prst="ellipse">
            <a:avLst/>
          </a:prstGeom>
          <a:solidFill>
            <a:srgbClr val="F2A51C"/>
          </a:solidFill>
          <a:ln w="0">
            <a:noFill/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10020300" y="60769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0420350" y="6010275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65" b="1">
                <a:solidFill>
                  <a:srgbClr val="392719"/>
                </a:solidFill>
              </a:defRPr>
            </a:pPr>
            <a:r>
              <a:rPr sz="1065" b="1">
                <a:solidFill>
                  <a:srgbClr val="392719"/>
                </a:solidFill>
              </a:rPr>
              <a:t>自进化Skill</a:t>
            </a:r>
            <a:endParaRPr sz="1065" b="1">
              <a:solidFill>
                <a:srgbClr val="392719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3190875" y="6572250"/>
            <a:ext cx="581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A95C12"/>
                </a:solidFill>
              </a:defRPr>
            </a:pPr>
            <a:r>
              <a:rPr sz="14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回答风格越来越贴合用户习惯 · 绘本/游戏任务基于历史持续改进</a:t>
            </a:r>
            <a:endParaRPr sz="1400" b="1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1382375" y="65341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8C6A3B"/>
                </a:solidFill>
              </a:defRPr>
            </a:pPr>
            <a:r>
              <a:rPr sz="1200" b="1">
                <a:solidFill>
                  <a:srgbClr val="8C6A3B"/>
                </a:solidFill>
              </a:rPr>
              <a:t>06</a:t>
            </a:r>
            <a:endParaRPr sz="1200" b="1">
              <a:solidFill>
                <a:srgbClr val="8C6A3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66750" y="13716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5F4124"/>
                </a:solidFill>
              </a:defRPr>
            </a:pPr>
            <a:r>
              <a:rPr lang="zh-CN" sz="1200" b="1">
                <a:solidFill>
                  <a:srgbClr val="5F4124"/>
                </a:solidFill>
                <a:ea typeface="宋体" panose="02010600030101010101" pitchFamily="2" charset="-122"/>
              </a:rPr>
              <a:t>会话</a:t>
            </a:r>
            <a:r>
              <a:rPr lang="en-US" altLang="zh-CN" sz="1200" b="1">
                <a:solidFill>
                  <a:srgbClr val="5F4124"/>
                </a:solidFill>
                <a:ea typeface="宋体" panose="02010600030101010101" pitchFamily="2" charset="-122"/>
              </a:rPr>
              <a:t>6</a:t>
            </a:r>
            <a:r>
              <a:rPr sz="1200" b="1">
                <a:solidFill>
                  <a:srgbClr val="5F4124"/>
                </a:solidFill>
              </a:rPr>
              <a:t> · 小星的水循环探索</a:t>
            </a:r>
            <a:endParaRPr sz="1200" b="1">
              <a:solidFill>
                <a:srgbClr val="5F4124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1725" y="367665"/>
            <a:ext cx="288290" cy="3181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0" dist="69343" dir="4443276">
              <a:srgbClr val="A96F24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0" dist="69343" dir="4443276">
              <a:srgbClr val="A96F24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1887</Words>
  <Application>WPS 演示</Application>
  <PresentationFormat>Converted Presentation</PresentationFormat>
  <Paragraphs>344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WangPu</cp:lastModifiedBy>
  <cp:revision>1</cp:revision>
  <dcterms:created xsi:type="dcterms:W3CDTF">2026-06-26T07:52:49Z</dcterms:created>
  <dcterms:modified xsi:type="dcterms:W3CDTF">2026-06-26T07:52:49Z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B4B589CAB7C745EA9A6EC5C14DC40C7A_12</vt:lpwstr>
  </property>
</Properties>
</file>